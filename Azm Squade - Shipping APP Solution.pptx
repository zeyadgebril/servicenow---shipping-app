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lear Sans" panose="020B0604020202020204" charset="0"/>
      <p:regular r:id="rId16"/>
    </p:embeddedFont>
    <p:embeddedFont>
      <p:font typeface="Clear Sans Bold" panose="020B0604020202020204" charset="0"/>
      <p:regular r:id="rId17"/>
    </p:embeddedFont>
    <p:embeddedFont>
      <p:font typeface="Hussa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2.sv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12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svg"/><Relationship Id="rId7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2.png"/><Relationship Id="rId3" Type="http://schemas.openxmlformats.org/officeDocument/2006/relationships/image" Target="../media/image4.svg"/><Relationship Id="rId7" Type="http://schemas.openxmlformats.org/officeDocument/2006/relationships/image" Target="../media/image30.svg"/><Relationship Id="rId12" Type="http://schemas.openxmlformats.org/officeDocument/2006/relationships/image" Target="../media/image4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40.png"/><Relationship Id="rId5" Type="http://schemas.openxmlformats.org/officeDocument/2006/relationships/image" Target="../media/image38.sv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22.svg"/><Relationship Id="rId14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svg"/><Relationship Id="rId7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13" Type="http://schemas.openxmlformats.org/officeDocument/2006/relationships/image" Target="../media/image52.svg"/><Relationship Id="rId18" Type="http://schemas.openxmlformats.org/officeDocument/2006/relationships/image" Target="../media/image55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svg"/><Relationship Id="rId12" Type="http://schemas.openxmlformats.org/officeDocument/2006/relationships/image" Target="../media/image51.png"/><Relationship Id="rId17" Type="http://schemas.openxmlformats.org/officeDocument/2006/relationships/image" Target="../media/image54.png"/><Relationship Id="rId2" Type="http://schemas.openxmlformats.org/officeDocument/2006/relationships/video" Target="../media/media1.mp4"/><Relationship Id="rId16" Type="http://schemas.openxmlformats.org/officeDocument/2006/relationships/image" Target="../media/image53.png"/><Relationship Id="rId20" Type="http://schemas.openxmlformats.org/officeDocument/2006/relationships/image" Target="../media/image30.svg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11" Type="http://schemas.openxmlformats.org/officeDocument/2006/relationships/image" Target="../media/image50.svg"/><Relationship Id="rId5" Type="http://schemas.openxmlformats.org/officeDocument/2006/relationships/image" Target="../media/image4.svg"/><Relationship Id="rId15" Type="http://schemas.openxmlformats.org/officeDocument/2006/relationships/image" Target="../media/image46.png"/><Relationship Id="rId10" Type="http://schemas.openxmlformats.org/officeDocument/2006/relationships/image" Target="../media/image49.png"/><Relationship Id="rId19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48.png"/><Relationship Id="rId14" Type="http://schemas.openxmlformats.org/officeDocument/2006/relationships/image" Target="../media/image4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gif"/><Relationship Id="rId3" Type="http://schemas.openxmlformats.org/officeDocument/2006/relationships/image" Target="../media/image4.svg"/><Relationship Id="rId7" Type="http://schemas.openxmlformats.org/officeDocument/2006/relationships/image" Target="../media/image57.png"/><Relationship Id="rId12" Type="http://schemas.openxmlformats.org/officeDocument/2006/relationships/image" Target="../media/image62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22.svg"/><Relationship Id="rId15" Type="http://schemas.openxmlformats.org/officeDocument/2006/relationships/image" Target="../media/image30.svg"/><Relationship Id="rId10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9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8.sv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4.svg"/><Relationship Id="rId10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30.svg"/><Relationship Id="rId3" Type="http://schemas.openxmlformats.org/officeDocument/2006/relationships/image" Target="../media/image68.png"/><Relationship Id="rId7" Type="http://schemas.openxmlformats.org/officeDocument/2006/relationships/image" Target="../media/image72.svg"/><Relationship Id="rId12" Type="http://schemas.openxmlformats.org/officeDocument/2006/relationships/image" Target="../media/image2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sv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svg"/><Relationship Id="rId9" Type="http://schemas.openxmlformats.org/officeDocument/2006/relationships/image" Target="../media/image7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Relationship Id="rId9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3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zeyadgebril/ServiceNow---Shipping-App" TargetMode="External"/><Relationship Id="rId3" Type="http://schemas.openxmlformats.org/officeDocument/2006/relationships/image" Target="../media/image88.svg"/><Relationship Id="rId7" Type="http://schemas.openxmlformats.org/officeDocument/2006/relationships/image" Target="../media/image91.sv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hyperlink" Target="https://dev215416.service-now.com/shipping_app?id=shipping_landing" TargetMode="External"/><Relationship Id="rId4" Type="http://schemas.openxmlformats.org/officeDocument/2006/relationships/image" Target="../media/image89.png"/><Relationship Id="rId9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seller"/>
          <p:cNvSpPr/>
          <p:nvPr/>
        </p:nvSpPr>
        <p:spPr>
          <a:xfrm>
            <a:off x="8037079" y="6628876"/>
            <a:ext cx="1797569" cy="1593096"/>
          </a:xfrm>
          <a:custGeom>
            <a:avLst/>
            <a:gdLst/>
            <a:ahLst/>
            <a:cxnLst/>
            <a:rect l="l" t="t" r="r" b="b"/>
            <a:pathLst>
              <a:path w="1797569" h="1593096">
                <a:moveTo>
                  <a:pt x="0" y="0"/>
                </a:moveTo>
                <a:lnTo>
                  <a:pt x="1797569" y="0"/>
                </a:lnTo>
                <a:lnTo>
                  <a:pt x="1797569" y="1593096"/>
                </a:lnTo>
                <a:lnTo>
                  <a:pt x="0" y="159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030641" y="630455"/>
            <a:ext cx="1582607" cy="485001"/>
            <a:chOff x="0" y="0"/>
            <a:chExt cx="1989184" cy="609600"/>
          </a:xfrm>
        </p:grpSpPr>
        <p:sp>
          <p:nvSpPr>
            <p:cNvPr id="4" name="Freeform 4"/>
            <p:cNvSpPr/>
            <p:nvPr/>
          </p:nvSpPr>
          <p:spPr>
            <a:xfrm>
              <a:off x="19124" y="0"/>
              <a:ext cx="1950937" cy="609600"/>
            </a:xfrm>
            <a:custGeom>
              <a:avLst/>
              <a:gdLst/>
              <a:ahLst/>
              <a:cxnLst/>
              <a:rect l="l" t="t" r="r" b="b"/>
              <a:pathLst>
                <a:path w="1950937" h="609600">
                  <a:moveTo>
                    <a:pt x="252562" y="0"/>
                  </a:moveTo>
                  <a:lnTo>
                    <a:pt x="1901574" y="0"/>
                  </a:lnTo>
                  <a:cubicBezTo>
                    <a:pt x="1917441" y="0"/>
                    <a:pt x="1932341" y="7627"/>
                    <a:pt x="1941619" y="20500"/>
                  </a:cubicBezTo>
                  <a:cubicBezTo>
                    <a:pt x="1950896" y="33372"/>
                    <a:pt x="1953421" y="49919"/>
                    <a:pt x="1948403" y="64972"/>
                  </a:cubicBezTo>
                  <a:lnTo>
                    <a:pt x="1788518" y="544628"/>
                  </a:lnTo>
                  <a:cubicBezTo>
                    <a:pt x="1775584" y="583429"/>
                    <a:pt x="1739274" y="609600"/>
                    <a:pt x="1698374" y="609600"/>
                  </a:cubicBezTo>
                  <a:lnTo>
                    <a:pt x="49362" y="609600"/>
                  </a:lnTo>
                  <a:cubicBezTo>
                    <a:pt x="33495" y="609600"/>
                    <a:pt x="18595" y="601973"/>
                    <a:pt x="9318" y="589100"/>
                  </a:cubicBezTo>
                  <a:cubicBezTo>
                    <a:pt x="40" y="576228"/>
                    <a:pt x="-2484" y="559681"/>
                    <a:pt x="2533" y="544628"/>
                  </a:cubicBezTo>
                  <a:lnTo>
                    <a:pt x="162419" y="64972"/>
                  </a:lnTo>
                  <a:cubicBezTo>
                    <a:pt x="175352" y="26171"/>
                    <a:pt x="211663" y="0"/>
                    <a:pt x="25256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25870" y="6548406"/>
            <a:ext cx="7005226" cy="826047"/>
            <a:chOff x="0" y="0"/>
            <a:chExt cx="5794710" cy="683304"/>
          </a:xfrm>
        </p:grpSpPr>
        <p:sp>
          <p:nvSpPr>
            <p:cNvPr id="7" name="Freeform 7"/>
            <p:cNvSpPr/>
            <p:nvPr/>
          </p:nvSpPr>
          <p:spPr>
            <a:xfrm>
              <a:off x="5055" y="0"/>
              <a:ext cx="5784600" cy="683304"/>
            </a:xfrm>
            <a:custGeom>
              <a:avLst/>
              <a:gdLst/>
              <a:ahLst/>
              <a:cxnLst/>
              <a:rect l="l" t="t" r="r" b="b"/>
              <a:pathLst>
                <a:path w="5784600" h="683304">
                  <a:moveTo>
                    <a:pt x="218038" y="0"/>
                  </a:moveTo>
                  <a:lnTo>
                    <a:pt x="5769762" y="0"/>
                  </a:lnTo>
                  <a:cubicBezTo>
                    <a:pt x="5774446" y="0"/>
                    <a:pt x="5778855" y="2212"/>
                    <a:pt x="5781655" y="5966"/>
                  </a:cubicBezTo>
                  <a:cubicBezTo>
                    <a:pt x="5784456" y="9721"/>
                    <a:pt x="5785319" y="14578"/>
                    <a:pt x="5783984" y="19068"/>
                  </a:cubicBezTo>
                  <a:lnTo>
                    <a:pt x="5592125" y="664237"/>
                  </a:lnTo>
                  <a:cubicBezTo>
                    <a:pt x="5588761" y="675548"/>
                    <a:pt x="5578363" y="683304"/>
                    <a:pt x="5566562" y="683304"/>
                  </a:cubicBezTo>
                  <a:lnTo>
                    <a:pt x="14838" y="683304"/>
                  </a:lnTo>
                  <a:cubicBezTo>
                    <a:pt x="10154" y="683304"/>
                    <a:pt x="5745" y="681092"/>
                    <a:pt x="2944" y="677338"/>
                  </a:cubicBezTo>
                  <a:cubicBezTo>
                    <a:pt x="143" y="673583"/>
                    <a:pt x="-720" y="668726"/>
                    <a:pt x="615" y="664237"/>
                  </a:cubicBezTo>
                  <a:lnTo>
                    <a:pt x="192475" y="19068"/>
                  </a:lnTo>
                  <a:cubicBezTo>
                    <a:pt x="195839" y="7756"/>
                    <a:pt x="206237" y="0"/>
                    <a:pt x="218038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9525"/>
              <a:ext cx="5591510" cy="67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479996" y="3338159"/>
            <a:ext cx="10670831" cy="1067083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402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230600" y="13425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644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777248" y="94735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-186947" y="5418863"/>
            <a:ext cx="6084732" cy="4114800"/>
          </a:xfrm>
          <a:custGeom>
            <a:avLst/>
            <a:gdLst/>
            <a:ahLst/>
            <a:cxnLst/>
            <a:rect l="l" t="t" r="r" b="b"/>
            <a:pathLst>
              <a:path w="6084732" h="4114800">
                <a:moveTo>
                  <a:pt x="0" y="0"/>
                </a:moveTo>
                <a:lnTo>
                  <a:pt x="6084732" y="0"/>
                </a:lnTo>
                <a:lnTo>
                  <a:pt x="6084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072273" y="2093374"/>
            <a:ext cx="5863590" cy="8229600"/>
          </a:xfrm>
          <a:custGeom>
            <a:avLst/>
            <a:gdLst/>
            <a:ahLst/>
            <a:cxnLst/>
            <a:rect l="l" t="t" r="r" b="b"/>
            <a:pathLst>
              <a:path w="5863590" h="8229600">
                <a:moveTo>
                  <a:pt x="0" y="0"/>
                </a:moveTo>
                <a:lnTo>
                  <a:pt x="5863590" y="0"/>
                </a:lnTo>
                <a:lnTo>
                  <a:pt x="58635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6004068" y="0"/>
            <a:ext cx="3202063" cy="4114800"/>
          </a:xfrm>
          <a:custGeom>
            <a:avLst/>
            <a:gdLst/>
            <a:ahLst/>
            <a:cxnLst/>
            <a:rect l="l" t="t" r="r" b="b"/>
            <a:pathLst>
              <a:path w="3202063" h="4114800">
                <a:moveTo>
                  <a:pt x="0" y="0"/>
                </a:moveTo>
                <a:lnTo>
                  <a:pt x="3202063" y="0"/>
                </a:lnTo>
                <a:lnTo>
                  <a:pt x="32020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9440997" y="3590441"/>
            <a:ext cx="7574972" cy="261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0"/>
              </a:lnSpc>
            </a:pPr>
            <a:r>
              <a:rPr lang="en-US" sz="10060" spc="-130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SHIPPING</a:t>
            </a:r>
          </a:p>
          <a:p>
            <a:pPr algn="ctr">
              <a:lnSpc>
                <a:spcPts val="10060"/>
              </a:lnSpc>
            </a:pPr>
            <a:r>
              <a:rPr lang="en-US" sz="10060" spc="-130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SOLUTION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25870" y="6611232"/>
            <a:ext cx="7005226" cy="1268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6"/>
              </a:lnSpc>
            </a:pPr>
            <a:r>
              <a:rPr lang="en-US" sz="3683" spc="-4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F</a:t>
            </a:r>
            <a:r>
              <a:rPr lang="en-US" sz="3683" b="1" spc="-4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AST &amp; RELIABLE</a:t>
            </a:r>
          </a:p>
          <a:p>
            <a:pPr algn="ctr">
              <a:lnSpc>
                <a:spcPts val="5156"/>
              </a:lnSpc>
            </a:pPr>
            <a:endParaRPr lang="en-US" sz="3683" b="1" spc="-47">
              <a:solidFill>
                <a:srgbClr val="FFFFFF"/>
              </a:solidFill>
              <a:latin typeface="Hussar Bold"/>
              <a:ea typeface="Hussar Bold"/>
              <a:cs typeface="Hussar Bold"/>
              <a:sym typeface="Hussar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spc="-116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spc="-11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About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spc="-11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service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spc="-116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22938" y="7736403"/>
            <a:ext cx="1811089" cy="27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  <a:spcBef>
                <a:spcPct val="0"/>
              </a:spcBef>
            </a:pPr>
            <a:r>
              <a:rPr lang="en-US" sz="1975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JAN 15 ,</a:t>
            </a: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seller"/>
          <p:cNvSpPr/>
          <p:nvPr/>
        </p:nvSpPr>
        <p:spPr>
          <a:xfrm>
            <a:off x="8037079" y="6628876"/>
            <a:ext cx="1797569" cy="1593096"/>
          </a:xfrm>
          <a:custGeom>
            <a:avLst/>
            <a:gdLst/>
            <a:ahLst/>
            <a:cxnLst/>
            <a:rect l="l" t="t" r="r" b="b"/>
            <a:pathLst>
              <a:path w="1797569" h="1593096">
                <a:moveTo>
                  <a:pt x="0" y="0"/>
                </a:moveTo>
                <a:lnTo>
                  <a:pt x="1797569" y="0"/>
                </a:lnTo>
                <a:lnTo>
                  <a:pt x="1797569" y="1593096"/>
                </a:lnTo>
                <a:lnTo>
                  <a:pt x="0" y="159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8034" y="4367126"/>
            <a:ext cx="8616471" cy="4846765"/>
          </a:xfrm>
          <a:custGeom>
            <a:avLst/>
            <a:gdLst/>
            <a:ahLst/>
            <a:cxnLst/>
            <a:rect l="l" t="t" r="r" b="b"/>
            <a:pathLst>
              <a:path w="8616471" h="4846765">
                <a:moveTo>
                  <a:pt x="0" y="0"/>
                </a:moveTo>
                <a:lnTo>
                  <a:pt x="8616471" y="0"/>
                </a:lnTo>
                <a:lnTo>
                  <a:pt x="8616471" y="4846765"/>
                </a:lnTo>
                <a:lnTo>
                  <a:pt x="0" y="4846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658034" y="4367126"/>
            <a:ext cx="8175616" cy="4064000"/>
            <a:chOff x="0" y="0"/>
            <a:chExt cx="2153249" cy="10703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3249" cy="1070354"/>
            </a:xfrm>
            <a:custGeom>
              <a:avLst/>
              <a:gdLst/>
              <a:ahLst/>
              <a:cxnLst/>
              <a:rect l="l" t="t" r="r" b="b"/>
              <a:pathLst>
                <a:path w="2153249" h="1070354">
                  <a:moveTo>
                    <a:pt x="48295" y="0"/>
                  </a:moveTo>
                  <a:lnTo>
                    <a:pt x="2104954" y="0"/>
                  </a:lnTo>
                  <a:cubicBezTo>
                    <a:pt x="2117763" y="0"/>
                    <a:pt x="2130047" y="5088"/>
                    <a:pt x="2139104" y="14145"/>
                  </a:cubicBezTo>
                  <a:cubicBezTo>
                    <a:pt x="2148160" y="23202"/>
                    <a:pt x="2153249" y="35486"/>
                    <a:pt x="2153249" y="48295"/>
                  </a:cubicBezTo>
                  <a:lnTo>
                    <a:pt x="2153249" y="1022059"/>
                  </a:lnTo>
                  <a:cubicBezTo>
                    <a:pt x="2153249" y="1034868"/>
                    <a:pt x="2148160" y="1047152"/>
                    <a:pt x="2139104" y="1056209"/>
                  </a:cubicBezTo>
                  <a:cubicBezTo>
                    <a:pt x="2130047" y="1065266"/>
                    <a:pt x="2117763" y="1070354"/>
                    <a:pt x="2104954" y="1070354"/>
                  </a:cubicBezTo>
                  <a:lnTo>
                    <a:pt x="48295" y="1070354"/>
                  </a:lnTo>
                  <a:cubicBezTo>
                    <a:pt x="35486" y="1070354"/>
                    <a:pt x="23202" y="1065266"/>
                    <a:pt x="14145" y="1056209"/>
                  </a:cubicBezTo>
                  <a:cubicBezTo>
                    <a:pt x="5088" y="1047152"/>
                    <a:pt x="0" y="1034868"/>
                    <a:pt x="0" y="1022059"/>
                  </a:cubicBezTo>
                  <a:lnTo>
                    <a:pt x="0" y="48295"/>
                  </a:lnTo>
                  <a:cubicBezTo>
                    <a:pt x="0" y="35486"/>
                    <a:pt x="5088" y="23202"/>
                    <a:pt x="14145" y="14145"/>
                  </a:cubicBezTo>
                  <a:cubicBezTo>
                    <a:pt x="23202" y="5088"/>
                    <a:pt x="35486" y="0"/>
                    <a:pt x="48295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2153249" cy="1041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613248" y="597287"/>
            <a:ext cx="1582607" cy="485001"/>
            <a:chOff x="0" y="0"/>
            <a:chExt cx="1989184" cy="609600"/>
          </a:xfrm>
        </p:grpSpPr>
        <p:sp>
          <p:nvSpPr>
            <p:cNvPr id="8" name="Freeform 8"/>
            <p:cNvSpPr/>
            <p:nvPr/>
          </p:nvSpPr>
          <p:spPr>
            <a:xfrm>
              <a:off x="19124" y="0"/>
              <a:ext cx="1950937" cy="609600"/>
            </a:xfrm>
            <a:custGeom>
              <a:avLst/>
              <a:gdLst/>
              <a:ahLst/>
              <a:cxnLst/>
              <a:rect l="l" t="t" r="r" b="b"/>
              <a:pathLst>
                <a:path w="1950937" h="609600">
                  <a:moveTo>
                    <a:pt x="252562" y="0"/>
                  </a:moveTo>
                  <a:lnTo>
                    <a:pt x="1901574" y="0"/>
                  </a:lnTo>
                  <a:cubicBezTo>
                    <a:pt x="1917441" y="0"/>
                    <a:pt x="1932341" y="7627"/>
                    <a:pt x="1941619" y="20500"/>
                  </a:cubicBezTo>
                  <a:cubicBezTo>
                    <a:pt x="1950896" y="33372"/>
                    <a:pt x="1953421" y="49919"/>
                    <a:pt x="1948403" y="64972"/>
                  </a:cubicBezTo>
                  <a:lnTo>
                    <a:pt x="1788518" y="544628"/>
                  </a:lnTo>
                  <a:cubicBezTo>
                    <a:pt x="1775584" y="583429"/>
                    <a:pt x="1739274" y="609600"/>
                    <a:pt x="1698374" y="609600"/>
                  </a:cubicBezTo>
                  <a:lnTo>
                    <a:pt x="49362" y="609600"/>
                  </a:lnTo>
                  <a:cubicBezTo>
                    <a:pt x="33495" y="609600"/>
                    <a:pt x="18595" y="601973"/>
                    <a:pt x="9318" y="589100"/>
                  </a:cubicBezTo>
                  <a:cubicBezTo>
                    <a:pt x="40" y="576228"/>
                    <a:pt x="-2484" y="559681"/>
                    <a:pt x="2533" y="544628"/>
                  </a:cubicBezTo>
                  <a:lnTo>
                    <a:pt x="162419" y="64972"/>
                  </a:lnTo>
                  <a:cubicBezTo>
                    <a:pt x="175352" y="26171"/>
                    <a:pt x="211663" y="0"/>
                    <a:pt x="25256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46155" y="5806924"/>
            <a:ext cx="10670831" cy="1067083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62777" y="2167616"/>
            <a:ext cx="6812884" cy="1816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4"/>
              </a:lnSpc>
            </a:pPr>
            <a:r>
              <a:rPr lang="en-US" sz="4313" spc="-5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SHIPPING REQU</a:t>
            </a:r>
            <a:r>
              <a:rPr lang="en-US" sz="4313" b="1" spc="-5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EST &amp; TRACKING SYSTEM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77398" y="5095875"/>
            <a:ext cx="6736887" cy="296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spc="-147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 dynamic ServiceNow-based shipping application that enables users to submit shipping requests, enter shipment details, and track their deliveries in real time through a live map tracker, while providing a streamlined and user-friendly experience.</a:t>
            </a:r>
          </a:p>
          <a:p>
            <a:pPr algn="l">
              <a:lnSpc>
                <a:spcPts val="3079"/>
              </a:lnSpc>
            </a:pPr>
            <a:endParaRPr lang="en-US" sz="2499" b="1" spc="-147">
              <a:solidFill>
                <a:srgbClr val="FFFFFF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ts val="3219"/>
              </a:lnSpc>
            </a:pPr>
            <a:endParaRPr lang="en-US" sz="2499" b="1" spc="-147">
              <a:solidFill>
                <a:srgbClr val="FFFFFF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19" name="Freeform 19"/>
          <p:cNvSpPr/>
          <p:nvPr/>
        </p:nvSpPr>
        <p:spPr>
          <a:xfrm>
            <a:off x="1781859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2293755" y="5654524"/>
            <a:ext cx="10670831" cy="1067083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A6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0449249" y="2326112"/>
            <a:ext cx="6810051" cy="6656825"/>
          </a:xfrm>
          <a:custGeom>
            <a:avLst/>
            <a:gdLst/>
            <a:ahLst/>
            <a:cxnLst/>
            <a:rect l="l" t="t" r="r" b="b"/>
            <a:pathLst>
              <a:path w="6810051" h="6656825">
                <a:moveTo>
                  <a:pt x="0" y="0"/>
                </a:moveTo>
                <a:lnTo>
                  <a:pt x="6810051" y="0"/>
                </a:lnTo>
                <a:lnTo>
                  <a:pt x="6810051" y="6656825"/>
                </a:lnTo>
                <a:lnTo>
                  <a:pt x="0" y="66568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-3854863" y="-8865165"/>
            <a:ext cx="10670831" cy="1067083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815967" y="-232818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-2052023" y="762485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23745" y="5264978"/>
            <a:ext cx="10670831" cy="106708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A6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24643" y="412193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84004" y="2261663"/>
            <a:ext cx="7925266" cy="3718271"/>
          </a:xfrm>
          <a:custGeom>
            <a:avLst/>
            <a:gdLst/>
            <a:ahLst/>
            <a:cxnLst/>
            <a:rect l="l" t="t" r="r" b="b"/>
            <a:pathLst>
              <a:path w="7925266" h="3718271">
                <a:moveTo>
                  <a:pt x="0" y="0"/>
                </a:moveTo>
                <a:lnTo>
                  <a:pt x="7925266" y="0"/>
                </a:lnTo>
                <a:lnTo>
                  <a:pt x="7925266" y="3718271"/>
                </a:lnTo>
                <a:lnTo>
                  <a:pt x="0" y="3718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810275" y="2096081"/>
            <a:ext cx="7072725" cy="3168896"/>
            <a:chOff x="0" y="0"/>
            <a:chExt cx="1862775" cy="834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2775" cy="834607"/>
            </a:xfrm>
            <a:custGeom>
              <a:avLst/>
              <a:gdLst/>
              <a:ahLst/>
              <a:cxnLst/>
              <a:rect l="l" t="t" r="r" b="b"/>
              <a:pathLst>
                <a:path w="1862775" h="834607">
                  <a:moveTo>
                    <a:pt x="55825" y="0"/>
                  </a:moveTo>
                  <a:lnTo>
                    <a:pt x="1806950" y="0"/>
                  </a:lnTo>
                  <a:cubicBezTo>
                    <a:pt x="1837781" y="0"/>
                    <a:pt x="1862775" y="24994"/>
                    <a:pt x="1862775" y="55825"/>
                  </a:cubicBezTo>
                  <a:lnTo>
                    <a:pt x="1862775" y="778781"/>
                  </a:lnTo>
                  <a:cubicBezTo>
                    <a:pt x="1862775" y="809613"/>
                    <a:pt x="1837781" y="834607"/>
                    <a:pt x="1806950" y="834607"/>
                  </a:cubicBezTo>
                  <a:lnTo>
                    <a:pt x="55825" y="834607"/>
                  </a:lnTo>
                  <a:cubicBezTo>
                    <a:pt x="24994" y="834607"/>
                    <a:pt x="0" y="809613"/>
                    <a:pt x="0" y="778781"/>
                  </a:cubicBezTo>
                  <a:lnTo>
                    <a:pt x="0" y="55825"/>
                  </a:lnTo>
                  <a:cubicBezTo>
                    <a:pt x="0" y="24994"/>
                    <a:pt x="24994" y="0"/>
                    <a:pt x="55825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862775" cy="80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84004" y="5882150"/>
            <a:ext cx="7925266" cy="3718271"/>
          </a:xfrm>
          <a:custGeom>
            <a:avLst/>
            <a:gdLst/>
            <a:ahLst/>
            <a:cxnLst/>
            <a:rect l="l" t="t" r="r" b="b"/>
            <a:pathLst>
              <a:path w="7925266" h="3718271">
                <a:moveTo>
                  <a:pt x="0" y="0"/>
                </a:moveTo>
                <a:lnTo>
                  <a:pt x="7925266" y="0"/>
                </a:lnTo>
                <a:lnTo>
                  <a:pt x="7925266" y="3718271"/>
                </a:lnTo>
                <a:lnTo>
                  <a:pt x="0" y="3718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810275" y="5834525"/>
            <a:ext cx="7072725" cy="3095801"/>
            <a:chOff x="0" y="0"/>
            <a:chExt cx="1862775" cy="8153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2775" cy="815355"/>
            </a:xfrm>
            <a:custGeom>
              <a:avLst/>
              <a:gdLst/>
              <a:ahLst/>
              <a:cxnLst/>
              <a:rect l="l" t="t" r="r" b="b"/>
              <a:pathLst>
                <a:path w="1862775" h="815355">
                  <a:moveTo>
                    <a:pt x="55825" y="0"/>
                  </a:moveTo>
                  <a:lnTo>
                    <a:pt x="1806950" y="0"/>
                  </a:lnTo>
                  <a:cubicBezTo>
                    <a:pt x="1837781" y="0"/>
                    <a:pt x="1862775" y="24994"/>
                    <a:pt x="1862775" y="55825"/>
                  </a:cubicBezTo>
                  <a:lnTo>
                    <a:pt x="1862775" y="759530"/>
                  </a:lnTo>
                  <a:cubicBezTo>
                    <a:pt x="1862775" y="790361"/>
                    <a:pt x="1837781" y="815355"/>
                    <a:pt x="1806950" y="815355"/>
                  </a:cubicBezTo>
                  <a:lnTo>
                    <a:pt x="55825" y="815355"/>
                  </a:lnTo>
                  <a:cubicBezTo>
                    <a:pt x="24994" y="815355"/>
                    <a:pt x="0" y="790361"/>
                    <a:pt x="0" y="759530"/>
                  </a:cubicBezTo>
                  <a:lnTo>
                    <a:pt x="0" y="55825"/>
                  </a:lnTo>
                  <a:cubicBezTo>
                    <a:pt x="0" y="24994"/>
                    <a:pt x="24994" y="0"/>
                    <a:pt x="55825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862775" cy="78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83185" y="2507864"/>
            <a:ext cx="654178" cy="642730"/>
          </a:xfrm>
          <a:custGeom>
            <a:avLst/>
            <a:gdLst/>
            <a:ahLst/>
            <a:cxnLst/>
            <a:rect l="l" t="t" r="r" b="b"/>
            <a:pathLst>
              <a:path w="654178" h="642730">
                <a:moveTo>
                  <a:pt x="0" y="0"/>
                </a:moveTo>
                <a:lnTo>
                  <a:pt x="654179" y="0"/>
                </a:lnTo>
                <a:lnTo>
                  <a:pt x="654179" y="642730"/>
                </a:lnTo>
                <a:lnTo>
                  <a:pt x="0" y="64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83185" y="6237109"/>
            <a:ext cx="654178" cy="642730"/>
          </a:xfrm>
          <a:custGeom>
            <a:avLst/>
            <a:gdLst/>
            <a:ahLst/>
            <a:cxnLst/>
            <a:rect l="l" t="t" r="r" b="b"/>
            <a:pathLst>
              <a:path w="654178" h="642730">
                <a:moveTo>
                  <a:pt x="0" y="0"/>
                </a:moveTo>
                <a:lnTo>
                  <a:pt x="654179" y="0"/>
                </a:lnTo>
                <a:lnTo>
                  <a:pt x="654179" y="642730"/>
                </a:lnTo>
                <a:lnTo>
                  <a:pt x="0" y="64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518673" y="4567135"/>
            <a:ext cx="491248" cy="576365"/>
          </a:xfrm>
          <a:custGeom>
            <a:avLst/>
            <a:gdLst/>
            <a:ahLst/>
            <a:cxnLst/>
            <a:rect l="l" t="t" r="r" b="b"/>
            <a:pathLst>
              <a:path w="491248" h="576365">
                <a:moveTo>
                  <a:pt x="0" y="0"/>
                </a:moveTo>
                <a:lnTo>
                  <a:pt x="491248" y="0"/>
                </a:lnTo>
                <a:lnTo>
                  <a:pt x="491248" y="576365"/>
                </a:lnTo>
                <a:lnTo>
                  <a:pt x="0" y="576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743839" y="1768644"/>
            <a:ext cx="7351390" cy="155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6"/>
              </a:lnSpc>
            </a:pPr>
            <a:r>
              <a:rPr lang="en-US" sz="5578" b="1" spc="-72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THE RISE OF SOCIAL SHOPPING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62135" y="2940200"/>
            <a:ext cx="5970598" cy="232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2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Over 70% of online orders now require real-time shipment tracking and delivery visibility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2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More than 60% of customers expect to track their shipments live from request creation to final delivery</a:t>
            </a:r>
          </a:p>
          <a:p>
            <a:pPr algn="l">
              <a:lnSpc>
                <a:spcPts val="3079"/>
              </a:lnSpc>
            </a:pPr>
            <a:endParaRPr lang="en-US" sz="2199" spc="-129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562135" y="6852039"/>
            <a:ext cx="5798276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2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Demand for convenient digital shipping requests with minimal manual input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2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Need for real-time shipment tracking and status transparency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62135" y="2526914"/>
            <a:ext cx="2985299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1" spc="-32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STATISTICS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62135" y="6256159"/>
            <a:ext cx="1994448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1" spc="-32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DRIVERS</a:t>
            </a:r>
          </a:p>
        </p:txBody>
      </p:sp>
      <p:sp>
        <p:nvSpPr>
          <p:cNvPr id="22" name="Freeform 22"/>
          <p:cNvSpPr/>
          <p:nvPr/>
        </p:nvSpPr>
        <p:spPr>
          <a:xfrm>
            <a:off x="3653842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483829" y="4121935"/>
            <a:ext cx="5814346" cy="5022141"/>
          </a:xfrm>
          <a:custGeom>
            <a:avLst/>
            <a:gdLst/>
            <a:ahLst/>
            <a:cxnLst/>
            <a:rect l="l" t="t" r="r" b="b"/>
            <a:pathLst>
              <a:path w="5814346" h="5022141">
                <a:moveTo>
                  <a:pt x="0" y="0"/>
                </a:moveTo>
                <a:lnTo>
                  <a:pt x="5814346" y="0"/>
                </a:lnTo>
                <a:lnTo>
                  <a:pt x="5814346" y="5022141"/>
                </a:lnTo>
                <a:lnTo>
                  <a:pt x="0" y="50221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2613248" y="597287"/>
            <a:ext cx="1582607" cy="485001"/>
            <a:chOff x="0" y="0"/>
            <a:chExt cx="1989184" cy="609600"/>
          </a:xfrm>
        </p:grpSpPr>
        <p:sp>
          <p:nvSpPr>
            <p:cNvPr id="25" name="Freeform 25"/>
            <p:cNvSpPr/>
            <p:nvPr/>
          </p:nvSpPr>
          <p:spPr>
            <a:xfrm>
              <a:off x="19124" y="0"/>
              <a:ext cx="1950937" cy="609600"/>
            </a:xfrm>
            <a:custGeom>
              <a:avLst/>
              <a:gdLst/>
              <a:ahLst/>
              <a:cxnLst/>
              <a:rect l="l" t="t" r="r" b="b"/>
              <a:pathLst>
                <a:path w="1950937" h="609600">
                  <a:moveTo>
                    <a:pt x="252562" y="0"/>
                  </a:moveTo>
                  <a:lnTo>
                    <a:pt x="1901574" y="0"/>
                  </a:lnTo>
                  <a:cubicBezTo>
                    <a:pt x="1917441" y="0"/>
                    <a:pt x="1932341" y="7627"/>
                    <a:pt x="1941619" y="20500"/>
                  </a:cubicBezTo>
                  <a:cubicBezTo>
                    <a:pt x="1950896" y="33372"/>
                    <a:pt x="1953421" y="49919"/>
                    <a:pt x="1948403" y="64972"/>
                  </a:cubicBezTo>
                  <a:lnTo>
                    <a:pt x="1788518" y="544628"/>
                  </a:lnTo>
                  <a:cubicBezTo>
                    <a:pt x="1775584" y="583429"/>
                    <a:pt x="1739274" y="609600"/>
                    <a:pt x="1698374" y="609600"/>
                  </a:cubicBezTo>
                  <a:lnTo>
                    <a:pt x="49362" y="609600"/>
                  </a:lnTo>
                  <a:cubicBezTo>
                    <a:pt x="33495" y="609600"/>
                    <a:pt x="18595" y="601973"/>
                    <a:pt x="9318" y="589100"/>
                  </a:cubicBezTo>
                  <a:cubicBezTo>
                    <a:pt x="40" y="576228"/>
                    <a:pt x="-2484" y="559681"/>
                    <a:pt x="2533" y="544628"/>
                  </a:cubicBezTo>
                  <a:lnTo>
                    <a:pt x="162419" y="64972"/>
                  </a:lnTo>
                  <a:cubicBezTo>
                    <a:pt x="175352" y="26171"/>
                    <a:pt x="211663" y="0"/>
                    <a:pt x="25256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31" name="Freeform 31"/>
          <p:cNvSpPr/>
          <p:nvPr/>
        </p:nvSpPr>
        <p:spPr>
          <a:xfrm>
            <a:off x="5461273" y="-240330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60025" y="7898664"/>
            <a:ext cx="31194438" cy="10670831"/>
            <a:chOff x="0" y="0"/>
            <a:chExt cx="237608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6088" cy="812800"/>
            </a:xfrm>
            <a:custGeom>
              <a:avLst/>
              <a:gdLst/>
              <a:ahLst/>
              <a:cxnLst/>
              <a:rect l="l" t="t" r="r" b="b"/>
              <a:pathLst>
                <a:path w="2376088" h="812800">
                  <a:moveTo>
                    <a:pt x="1188044" y="0"/>
                  </a:moveTo>
                  <a:cubicBezTo>
                    <a:pt x="531906" y="0"/>
                    <a:pt x="0" y="181951"/>
                    <a:pt x="0" y="406400"/>
                  </a:cubicBezTo>
                  <a:cubicBezTo>
                    <a:pt x="0" y="630849"/>
                    <a:pt x="531906" y="812800"/>
                    <a:pt x="1188044" y="812800"/>
                  </a:cubicBezTo>
                  <a:cubicBezTo>
                    <a:pt x="1844183" y="812800"/>
                    <a:pt x="2376088" y="630849"/>
                    <a:pt x="2376088" y="406400"/>
                  </a:cubicBezTo>
                  <a:cubicBezTo>
                    <a:pt x="2376088" y="181951"/>
                    <a:pt x="1844183" y="0"/>
                    <a:pt x="1188044" y="0"/>
                  </a:cubicBezTo>
                  <a:close/>
                </a:path>
              </a:pathLst>
            </a:custGeom>
            <a:solidFill>
              <a:srgbClr val="2A4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2758" y="95250"/>
              <a:ext cx="1930572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30600" y="13425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732182" y="13425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300122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2613248" y="597287"/>
            <a:ext cx="1582607" cy="485001"/>
            <a:chOff x="0" y="0"/>
            <a:chExt cx="1989184" cy="609600"/>
          </a:xfrm>
        </p:grpSpPr>
        <p:sp>
          <p:nvSpPr>
            <p:cNvPr id="9" name="Freeform 9"/>
            <p:cNvSpPr/>
            <p:nvPr/>
          </p:nvSpPr>
          <p:spPr>
            <a:xfrm>
              <a:off x="19124" y="0"/>
              <a:ext cx="1950937" cy="609600"/>
            </a:xfrm>
            <a:custGeom>
              <a:avLst/>
              <a:gdLst/>
              <a:ahLst/>
              <a:cxnLst/>
              <a:rect l="l" t="t" r="r" b="b"/>
              <a:pathLst>
                <a:path w="1950937" h="609600">
                  <a:moveTo>
                    <a:pt x="252562" y="0"/>
                  </a:moveTo>
                  <a:lnTo>
                    <a:pt x="1901574" y="0"/>
                  </a:lnTo>
                  <a:cubicBezTo>
                    <a:pt x="1917441" y="0"/>
                    <a:pt x="1932341" y="7627"/>
                    <a:pt x="1941619" y="20500"/>
                  </a:cubicBezTo>
                  <a:cubicBezTo>
                    <a:pt x="1950896" y="33372"/>
                    <a:pt x="1953421" y="49919"/>
                    <a:pt x="1948403" y="64972"/>
                  </a:cubicBezTo>
                  <a:lnTo>
                    <a:pt x="1788518" y="544628"/>
                  </a:lnTo>
                  <a:cubicBezTo>
                    <a:pt x="1775584" y="583429"/>
                    <a:pt x="1739274" y="609600"/>
                    <a:pt x="1698374" y="609600"/>
                  </a:cubicBezTo>
                  <a:lnTo>
                    <a:pt x="49362" y="609600"/>
                  </a:lnTo>
                  <a:cubicBezTo>
                    <a:pt x="33495" y="609600"/>
                    <a:pt x="18595" y="601973"/>
                    <a:pt x="9318" y="589100"/>
                  </a:cubicBezTo>
                  <a:cubicBezTo>
                    <a:pt x="40" y="576228"/>
                    <a:pt x="-2484" y="559681"/>
                    <a:pt x="2533" y="544628"/>
                  </a:cubicBezTo>
                  <a:lnTo>
                    <a:pt x="162419" y="64972"/>
                  </a:lnTo>
                  <a:cubicBezTo>
                    <a:pt x="175352" y="26171"/>
                    <a:pt x="211663" y="0"/>
                    <a:pt x="25256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345219" y="2066824"/>
            <a:ext cx="12183951" cy="91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418" spc="-83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SHIPPING SOLUTION RULES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382618" y="4189505"/>
            <a:ext cx="2983778" cy="4583857"/>
            <a:chOff x="0" y="0"/>
            <a:chExt cx="3978370" cy="6111809"/>
          </a:xfrm>
        </p:grpSpPr>
        <p:grpSp>
          <p:nvGrpSpPr>
            <p:cNvPr id="14" name="Group 14"/>
            <p:cNvGrpSpPr/>
            <p:nvPr/>
          </p:nvGrpSpPr>
          <p:grpSpPr>
            <a:xfrm>
              <a:off x="431501" y="4477078"/>
              <a:ext cx="3115368" cy="1634731"/>
              <a:chOff x="0" y="0"/>
              <a:chExt cx="615381" cy="32291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15381" cy="322910"/>
              </a:xfrm>
              <a:custGeom>
                <a:avLst/>
                <a:gdLst/>
                <a:ahLst/>
                <a:cxnLst/>
                <a:rect l="l" t="t" r="r" b="b"/>
                <a:pathLst>
                  <a:path w="615381" h="322910">
                    <a:moveTo>
                      <a:pt x="69582" y="0"/>
                    </a:moveTo>
                    <a:lnTo>
                      <a:pt x="545799" y="0"/>
                    </a:lnTo>
                    <a:cubicBezTo>
                      <a:pt x="564254" y="0"/>
                      <a:pt x="581952" y="7331"/>
                      <a:pt x="595001" y="20380"/>
                    </a:cubicBezTo>
                    <a:cubicBezTo>
                      <a:pt x="608050" y="33429"/>
                      <a:pt x="615381" y="51128"/>
                      <a:pt x="615381" y="69582"/>
                    </a:cubicBezTo>
                    <a:lnTo>
                      <a:pt x="615381" y="253328"/>
                    </a:lnTo>
                    <a:cubicBezTo>
                      <a:pt x="615381" y="271782"/>
                      <a:pt x="608050" y="289481"/>
                      <a:pt x="595001" y="302530"/>
                    </a:cubicBezTo>
                    <a:cubicBezTo>
                      <a:pt x="581952" y="315579"/>
                      <a:pt x="564254" y="322910"/>
                      <a:pt x="545799" y="322910"/>
                    </a:cubicBezTo>
                    <a:lnTo>
                      <a:pt x="69582" y="322910"/>
                    </a:lnTo>
                    <a:cubicBezTo>
                      <a:pt x="51128" y="322910"/>
                      <a:pt x="33429" y="315579"/>
                      <a:pt x="20380" y="302530"/>
                    </a:cubicBezTo>
                    <a:cubicBezTo>
                      <a:pt x="7331" y="289481"/>
                      <a:pt x="0" y="271782"/>
                      <a:pt x="0" y="253328"/>
                    </a:cubicBezTo>
                    <a:lnTo>
                      <a:pt x="0" y="69582"/>
                    </a:lnTo>
                    <a:cubicBezTo>
                      <a:pt x="0" y="51128"/>
                      <a:pt x="7331" y="33429"/>
                      <a:pt x="20380" y="20380"/>
                    </a:cubicBezTo>
                    <a:cubicBezTo>
                      <a:pt x="33429" y="7331"/>
                      <a:pt x="51128" y="0"/>
                      <a:pt x="69582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9525"/>
                <a:ext cx="615381" cy="313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0" y="0"/>
              <a:ext cx="3978370" cy="4187758"/>
            </a:xfrm>
            <a:custGeom>
              <a:avLst/>
              <a:gdLst/>
              <a:ahLst/>
              <a:cxnLst/>
              <a:rect l="l" t="t" r="r" b="b"/>
              <a:pathLst>
                <a:path w="3978370" h="4187758">
                  <a:moveTo>
                    <a:pt x="0" y="0"/>
                  </a:moveTo>
                  <a:lnTo>
                    <a:pt x="3978370" y="0"/>
                  </a:lnTo>
                  <a:lnTo>
                    <a:pt x="3978370" y="4187758"/>
                  </a:lnTo>
                  <a:lnTo>
                    <a:pt x="0" y="4187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00" y="5074438"/>
              <a:ext cx="2610171" cy="479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0"/>
                </a:lnSpc>
              </a:pPr>
              <a:r>
                <a:rPr lang="en-US" sz="2463" b="1" spc="-32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CUSTOMER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82468" y="6974739"/>
            <a:ext cx="2336526" cy="1226048"/>
            <a:chOff x="0" y="0"/>
            <a:chExt cx="615381" cy="3229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5381" cy="322910"/>
            </a:xfrm>
            <a:custGeom>
              <a:avLst/>
              <a:gdLst/>
              <a:ahLst/>
              <a:cxnLst/>
              <a:rect l="l" t="t" r="r" b="b"/>
              <a:pathLst>
                <a:path w="615381" h="322910">
                  <a:moveTo>
                    <a:pt x="69582" y="0"/>
                  </a:moveTo>
                  <a:lnTo>
                    <a:pt x="545799" y="0"/>
                  </a:lnTo>
                  <a:cubicBezTo>
                    <a:pt x="564254" y="0"/>
                    <a:pt x="581952" y="7331"/>
                    <a:pt x="595001" y="20380"/>
                  </a:cubicBezTo>
                  <a:cubicBezTo>
                    <a:pt x="608050" y="33429"/>
                    <a:pt x="615381" y="51128"/>
                    <a:pt x="615381" y="69582"/>
                  </a:cubicBezTo>
                  <a:lnTo>
                    <a:pt x="615381" y="253328"/>
                  </a:lnTo>
                  <a:cubicBezTo>
                    <a:pt x="615381" y="271782"/>
                    <a:pt x="608050" y="289481"/>
                    <a:pt x="595001" y="302530"/>
                  </a:cubicBezTo>
                  <a:cubicBezTo>
                    <a:pt x="581952" y="315579"/>
                    <a:pt x="564254" y="322910"/>
                    <a:pt x="545799" y="322910"/>
                  </a:cubicBezTo>
                  <a:lnTo>
                    <a:pt x="69582" y="322910"/>
                  </a:lnTo>
                  <a:cubicBezTo>
                    <a:pt x="51128" y="322910"/>
                    <a:pt x="33429" y="315579"/>
                    <a:pt x="20380" y="302530"/>
                  </a:cubicBezTo>
                  <a:cubicBezTo>
                    <a:pt x="7331" y="289481"/>
                    <a:pt x="0" y="271782"/>
                    <a:pt x="0" y="253328"/>
                  </a:cubicBezTo>
                  <a:lnTo>
                    <a:pt x="0" y="69582"/>
                  </a:lnTo>
                  <a:cubicBezTo>
                    <a:pt x="0" y="51128"/>
                    <a:pt x="7331" y="33429"/>
                    <a:pt x="20380" y="20380"/>
                  </a:cubicBezTo>
                  <a:cubicBezTo>
                    <a:pt x="33429" y="7331"/>
                    <a:pt x="51128" y="0"/>
                    <a:pt x="69582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615381" cy="313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7354364" y="3399941"/>
            <a:ext cx="3579272" cy="3574798"/>
          </a:xfrm>
          <a:custGeom>
            <a:avLst/>
            <a:gdLst/>
            <a:ahLst/>
            <a:cxnLst/>
            <a:rect l="l" t="t" r="r" b="b"/>
            <a:pathLst>
              <a:path w="3579272" h="3574798">
                <a:moveTo>
                  <a:pt x="0" y="0"/>
                </a:moveTo>
                <a:lnTo>
                  <a:pt x="3579272" y="0"/>
                </a:lnTo>
                <a:lnTo>
                  <a:pt x="3579272" y="3574798"/>
                </a:lnTo>
                <a:lnTo>
                  <a:pt x="0" y="35747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7982468" y="7286822"/>
            <a:ext cx="2401521" cy="64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279" spc="-29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PRICING R</a:t>
            </a:r>
            <a:r>
              <a:rPr lang="en-US" sz="2279" b="1" spc="-29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ESPONSIBLE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448611" y="4167907"/>
            <a:ext cx="4637093" cy="4605454"/>
            <a:chOff x="0" y="0"/>
            <a:chExt cx="6182790" cy="61406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82790" cy="4559808"/>
            </a:xfrm>
            <a:custGeom>
              <a:avLst/>
              <a:gdLst/>
              <a:ahLst/>
              <a:cxnLst/>
              <a:rect l="l" t="t" r="r" b="b"/>
              <a:pathLst>
                <a:path w="6182790" h="4559808">
                  <a:moveTo>
                    <a:pt x="0" y="0"/>
                  </a:moveTo>
                  <a:lnTo>
                    <a:pt x="6182790" y="0"/>
                  </a:lnTo>
                  <a:lnTo>
                    <a:pt x="6182790" y="4559808"/>
                  </a:lnTo>
                  <a:lnTo>
                    <a:pt x="0" y="4559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656866" y="4505874"/>
              <a:ext cx="3115368" cy="1634731"/>
              <a:chOff x="0" y="0"/>
              <a:chExt cx="615381" cy="32291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15381" cy="322910"/>
              </a:xfrm>
              <a:custGeom>
                <a:avLst/>
                <a:gdLst/>
                <a:ahLst/>
                <a:cxnLst/>
                <a:rect l="l" t="t" r="r" b="b"/>
                <a:pathLst>
                  <a:path w="615381" h="322910">
                    <a:moveTo>
                      <a:pt x="69582" y="0"/>
                    </a:moveTo>
                    <a:lnTo>
                      <a:pt x="545799" y="0"/>
                    </a:lnTo>
                    <a:cubicBezTo>
                      <a:pt x="564254" y="0"/>
                      <a:pt x="581952" y="7331"/>
                      <a:pt x="595001" y="20380"/>
                    </a:cubicBezTo>
                    <a:cubicBezTo>
                      <a:pt x="608050" y="33429"/>
                      <a:pt x="615381" y="51128"/>
                      <a:pt x="615381" y="69582"/>
                    </a:cubicBezTo>
                    <a:lnTo>
                      <a:pt x="615381" y="253328"/>
                    </a:lnTo>
                    <a:cubicBezTo>
                      <a:pt x="615381" y="271782"/>
                      <a:pt x="608050" y="289481"/>
                      <a:pt x="595001" y="302530"/>
                    </a:cubicBezTo>
                    <a:cubicBezTo>
                      <a:pt x="581952" y="315579"/>
                      <a:pt x="564254" y="322910"/>
                      <a:pt x="545799" y="322910"/>
                    </a:cubicBezTo>
                    <a:lnTo>
                      <a:pt x="69582" y="322910"/>
                    </a:lnTo>
                    <a:cubicBezTo>
                      <a:pt x="51128" y="322910"/>
                      <a:pt x="33429" y="315579"/>
                      <a:pt x="20380" y="302530"/>
                    </a:cubicBezTo>
                    <a:cubicBezTo>
                      <a:pt x="7331" y="289481"/>
                      <a:pt x="0" y="271782"/>
                      <a:pt x="0" y="253328"/>
                    </a:cubicBezTo>
                    <a:lnTo>
                      <a:pt x="0" y="69582"/>
                    </a:lnTo>
                    <a:cubicBezTo>
                      <a:pt x="0" y="51128"/>
                      <a:pt x="7331" y="33429"/>
                      <a:pt x="20380" y="20380"/>
                    </a:cubicBezTo>
                    <a:cubicBezTo>
                      <a:pt x="33429" y="7331"/>
                      <a:pt x="51128" y="0"/>
                      <a:pt x="69582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9525"/>
                <a:ext cx="615381" cy="313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579180" y="5146699"/>
              <a:ext cx="3270739" cy="521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2"/>
                </a:lnSpc>
              </a:pPr>
              <a:r>
                <a:rPr lang="en-US" sz="2666" spc="-34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LOGI</a:t>
              </a:r>
              <a:r>
                <a:rPr lang="en-US" sz="2666" b="1" spc="-34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STICS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30600" y="13425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35135" y="1311697"/>
            <a:ext cx="7315200" cy="1682496"/>
          </a:xfrm>
          <a:custGeom>
            <a:avLst/>
            <a:gdLst/>
            <a:ahLst/>
            <a:cxnLst/>
            <a:rect l="l" t="t" r="r" b="b"/>
            <a:pathLst>
              <a:path w="7315200" h="1682496">
                <a:moveTo>
                  <a:pt x="0" y="0"/>
                </a:moveTo>
                <a:lnTo>
                  <a:pt x="7315200" y="0"/>
                </a:lnTo>
                <a:lnTo>
                  <a:pt x="7315200" y="1682496"/>
                </a:lnTo>
                <a:lnTo>
                  <a:pt x="0" y="168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7019855" y="8104833"/>
            <a:ext cx="31194438" cy="10670831"/>
            <a:chOff x="0" y="0"/>
            <a:chExt cx="2376089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76088" cy="812800"/>
            </a:xfrm>
            <a:custGeom>
              <a:avLst/>
              <a:gdLst/>
              <a:ahLst/>
              <a:cxnLst/>
              <a:rect l="l" t="t" r="r" b="b"/>
              <a:pathLst>
                <a:path w="2376088" h="812800">
                  <a:moveTo>
                    <a:pt x="1188044" y="0"/>
                  </a:moveTo>
                  <a:cubicBezTo>
                    <a:pt x="531906" y="0"/>
                    <a:pt x="0" y="181951"/>
                    <a:pt x="0" y="406400"/>
                  </a:cubicBezTo>
                  <a:cubicBezTo>
                    <a:pt x="0" y="630849"/>
                    <a:pt x="531906" y="812800"/>
                    <a:pt x="1188044" y="812800"/>
                  </a:cubicBezTo>
                  <a:cubicBezTo>
                    <a:pt x="1844183" y="812800"/>
                    <a:pt x="2376088" y="630849"/>
                    <a:pt x="2376088" y="406400"/>
                  </a:cubicBezTo>
                  <a:cubicBezTo>
                    <a:pt x="2376088" y="181951"/>
                    <a:pt x="1844183" y="0"/>
                    <a:pt x="1188044" y="0"/>
                  </a:cubicBezTo>
                  <a:close/>
                </a:path>
              </a:pathLst>
            </a:custGeom>
            <a:solidFill>
              <a:srgbClr val="2A4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22758" y="95250"/>
              <a:ext cx="1930572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470420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9" name="Freeform 9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62392" y="1816268"/>
            <a:ext cx="6812884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84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CUSTOMER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64942" y="6496110"/>
            <a:ext cx="4030855" cy="2692275"/>
          </a:xfrm>
          <a:custGeom>
            <a:avLst/>
            <a:gdLst/>
            <a:ahLst/>
            <a:cxnLst/>
            <a:rect l="l" t="t" r="r" b="b"/>
            <a:pathLst>
              <a:path w="4030855" h="2692275">
                <a:moveTo>
                  <a:pt x="0" y="0"/>
                </a:moveTo>
                <a:lnTo>
                  <a:pt x="4030856" y="0"/>
                </a:lnTo>
                <a:lnTo>
                  <a:pt x="4030856" y="2692276"/>
                </a:lnTo>
                <a:lnTo>
                  <a:pt x="0" y="2692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564942" y="5825604"/>
            <a:ext cx="3987410" cy="3133461"/>
            <a:chOff x="0" y="0"/>
            <a:chExt cx="1228029" cy="9650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8029" cy="965033"/>
            </a:xfrm>
            <a:custGeom>
              <a:avLst/>
              <a:gdLst/>
              <a:ahLst/>
              <a:cxnLst/>
              <a:rect l="l" t="t" r="r" b="b"/>
              <a:pathLst>
                <a:path w="1228029" h="965033">
                  <a:moveTo>
                    <a:pt x="99021" y="0"/>
                  </a:moveTo>
                  <a:lnTo>
                    <a:pt x="1129008" y="0"/>
                  </a:lnTo>
                  <a:cubicBezTo>
                    <a:pt x="1155270" y="0"/>
                    <a:pt x="1180457" y="10433"/>
                    <a:pt x="1199027" y="29003"/>
                  </a:cubicBezTo>
                  <a:cubicBezTo>
                    <a:pt x="1217597" y="47573"/>
                    <a:pt x="1228029" y="72759"/>
                    <a:pt x="1228029" y="99021"/>
                  </a:cubicBezTo>
                  <a:lnTo>
                    <a:pt x="1228029" y="866012"/>
                  </a:lnTo>
                  <a:cubicBezTo>
                    <a:pt x="1228029" y="920700"/>
                    <a:pt x="1183696" y="965033"/>
                    <a:pt x="1129008" y="965033"/>
                  </a:cubicBezTo>
                  <a:lnTo>
                    <a:pt x="99021" y="965033"/>
                  </a:lnTo>
                  <a:cubicBezTo>
                    <a:pt x="72759" y="965033"/>
                    <a:pt x="47573" y="954600"/>
                    <a:pt x="29003" y="936030"/>
                  </a:cubicBezTo>
                  <a:cubicBezTo>
                    <a:pt x="10433" y="917460"/>
                    <a:pt x="0" y="892274"/>
                    <a:pt x="0" y="866012"/>
                  </a:cubicBezTo>
                  <a:lnTo>
                    <a:pt x="0" y="99021"/>
                  </a:lnTo>
                  <a:cubicBezTo>
                    <a:pt x="0" y="72759"/>
                    <a:pt x="10433" y="47573"/>
                    <a:pt x="29003" y="29003"/>
                  </a:cubicBezTo>
                  <a:cubicBezTo>
                    <a:pt x="47573" y="10433"/>
                    <a:pt x="72759" y="0"/>
                    <a:pt x="99021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228029" cy="936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5564" y="4646254"/>
            <a:ext cx="953440" cy="95344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9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4903220" y="8104833"/>
            <a:ext cx="1041004" cy="1153467"/>
          </a:xfrm>
          <a:custGeom>
            <a:avLst/>
            <a:gdLst/>
            <a:ahLst/>
            <a:cxnLst/>
            <a:rect l="l" t="t" r="r" b="b"/>
            <a:pathLst>
              <a:path w="1041004" h="1153467">
                <a:moveTo>
                  <a:pt x="0" y="0"/>
                </a:moveTo>
                <a:lnTo>
                  <a:pt x="1041004" y="0"/>
                </a:lnTo>
                <a:lnTo>
                  <a:pt x="1041004" y="1153467"/>
                </a:lnTo>
                <a:lnTo>
                  <a:pt x="0" y="11534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909098" y="7285769"/>
            <a:ext cx="2994122" cy="131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190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Self-registration on the platform</a:t>
            </a:r>
          </a:p>
          <a:p>
            <a:pPr marL="406190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Create a shipping request with full shipment details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13754" y="6153644"/>
            <a:ext cx="3163796" cy="109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7" spc="-2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CUSTOM</a:t>
            </a:r>
            <a:r>
              <a:rPr lang="en-US" sz="2137" b="1" spc="-2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ER REGISTRATION &amp; REQUEST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5494" y="4973139"/>
            <a:ext cx="633580" cy="31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223" b="1" spc="-28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01</a:t>
            </a:r>
          </a:p>
        </p:txBody>
      </p:sp>
      <p:sp>
        <p:nvSpPr>
          <p:cNvPr id="24" name="Freeform 24"/>
          <p:cNvSpPr/>
          <p:nvPr/>
        </p:nvSpPr>
        <p:spPr>
          <a:xfrm>
            <a:off x="7122397" y="5710748"/>
            <a:ext cx="4030855" cy="2692275"/>
          </a:xfrm>
          <a:custGeom>
            <a:avLst/>
            <a:gdLst/>
            <a:ahLst/>
            <a:cxnLst/>
            <a:rect l="l" t="t" r="r" b="b"/>
            <a:pathLst>
              <a:path w="4030855" h="2692275">
                <a:moveTo>
                  <a:pt x="0" y="0"/>
                </a:moveTo>
                <a:lnTo>
                  <a:pt x="4030856" y="0"/>
                </a:lnTo>
                <a:lnTo>
                  <a:pt x="4030856" y="2692276"/>
                </a:lnTo>
                <a:lnTo>
                  <a:pt x="0" y="2692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075309" y="5056534"/>
            <a:ext cx="3987410" cy="3133461"/>
            <a:chOff x="0" y="0"/>
            <a:chExt cx="1228029" cy="96503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28029" cy="965033"/>
            </a:xfrm>
            <a:custGeom>
              <a:avLst/>
              <a:gdLst/>
              <a:ahLst/>
              <a:cxnLst/>
              <a:rect l="l" t="t" r="r" b="b"/>
              <a:pathLst>
                <a:path w="1228029" h="965033">
                  <a:moveTo>
                    <a:pt x="99021" y="0"/>
                  </a:moveTo>
                  <a:lnTo>
                    <a:pt x="1129008" y="0"/>
                  </a:lnTo>
                  <a:cubicBezTo>
                    <a:pt x="1155270" y="0"/>
                    <a:pt x="1180457" y="10433"/>
                    <a:pt x="1199027" y="29003"/>
                  </a:cubicBezTo>
                  <a:cubicBezTo>
                    <a:pt x="1217597" y="47573"/>
                    <a:pt x="1228029" y="72759"/>
                    <a:pt x="1228029" y="99021"/>
                  </a:cubicBezTo>
                  <a:lnTo>
                    <a:pt x="1228029" y="866012"/>
                  </a:lnTo>
                  <a:cubicBezTo>
                    <a:pt x="1228029" y="920700"/>
                    <a:pt x="1183696" y="965033"/>
                    <a:pt x="1129008" y="965033"/>
                  </a:cubicBezTo>
                  <a:lnTo>
                    <a:pt x="99021" y="965033"/>
                  </a:lnTo>
                  <a:cubicBezTo>
                    <a:pt x="72759" y="965033"/>
                    <a:pt x="47573" y="954600"/>
                    <a:pt x="29003" y="936030"/>
                  </a:cubicBezTo>
                  <a:cubicBezTo>
                    <a:pt x="10433" y="917460"/>
                    <a:pt x="0" y="892274"/>
                    <a:pt x="0" y="866012"/>
                  </a:cubicBezTo>
                  <a:lnTo>
                    <a:pt x="0" y="99021"/>
                  </a:lnTo>
                  <a:cubicBezTo>
                    <a:pt x="0" y="72759"/>
                    <a:pt x="10433" y="47573"/>
                    <a:pt x="29003" y="29003"/>
                  </a:cubicBezTo>
                  <a:cubicBezTo>
                    <a:pt x="47573" y="10433"/>
                    <a:pt x="72759" y="0"/>
                    <a:pt x="99021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1228029" cy="936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22397" y="3877183"/>
            <a:ext cx="953440" cy="9534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9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0285322" y="7475655"/>
            <a:ext cx="927369" cy="927369"/>
          </a:xfrm>
          <a:custGeom>
            <a:avLst/>
            <a:gdLst/>
            <a:ahLst/>
            <a:cxnLst/>
            <a:rect l="l" t="t" r="r" b="b"/>
            <a:pathLst>
              <a:path w="927369" h="927369">
                <a:moveTo>
                  <a:pt x="0" y="0"/>
                </a:moveTo>
                <a:lnTo>
                  <a:pt x="927369" y="0"/>
                </a:lnTo>
                <a:lnTo>
                  <a:pt x="927369" y="927369"/>
                </a:lnTo>
                <a:lnTo>
                  <a:pt x="0" y="9273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7599118" y="6052080"/>
            <a:ext cx="2722954" cy="198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190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Automatic email sent with shipping details and pricing</a:t>
            </a:r>
          </a:p>
          <a:p>
            <a:pPr marL="406190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Customer can approve or reject the request with a rejection reason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82328" y="4204069"/>
            <a:ext cx="633580" cy="31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223" b="1" spc="-28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99118" y="5384573"/>
            <a:ext cx="3149889" cy="72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7" spc="-2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APP</a:t>
            </a:r>
            <a:r>
              <a:rPr lang="en-US" sz="2137" b="1" spc="-2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ROVAL &amp; COMMUNICATION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12322398" y="6540208"/>
            <a:ext cx="4030855" cy="2692275"/>
          </a:xfrm>
          <a:custGeom>
            <a:avLst/>
            <a:gdLst/>
            <a:ahLst/>
            <a:cxnLst/>
            <a:rect l="l" t="t" r="r" b="b"/>
            <a:pathLst>
              <a:path w="4030855" h="2692275">
                <a:moveTo>
                  <a:pt x="0" y="0"/>
                </a:moveTo>
                <a:lnTo>
                  <a:pt x="4030855" y="0"/>
                </a:lnTo>
                <a:lnTo>
                  <a:pt x="4030855" y="2692276"/>
                </a:lnTo>
                <a:lnTo>
                  <a:pt x="0" y="2692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2280737" y="5885994"/>
            <a:ext cx="3987410" cy="3133461"/>
            <a:chOff x="0" y="0"/>
            <a:chExt cx="1228029" cy="96503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28029" cy="965033"/>
            </a:xfrm>
            <a:custGeom>
              <a:avLst/>
              <a:gdLst/>
              <a:ahLst/>
              <a:cxnLst/>
              <a:rect l="l" t="t" r="r" b="b"/>
              <a:pathLst>
                <a:path w="1228029" h="965033">
                  <a:moveTo>
                    <a:pt x="99021" y="0"/>
                  </a:moveTo>
                  <a:lnTo>
                    <a:pt x="1129008" y="0"/>
                  </a:lnTo>
                  <a:cubicBezTo>
                    <a:pt x="1155270" y="0"/>
                    <a:pt x="1180457" y="10433"/>
                    <a:pt x="1199027" y="29003"/>
                  </a:cubicBezTo>
                  <a:cubicBezTo>
                    <a:pt x="1217597" y="47573"/>
                    <a:pt x="1228029" y="72759"/>
                    <a:pt x="1228029" y="99021"/>
                  </a:cubicBezTo>
                  <a:lnTo>
                    <a:pt x="1228029" y="866012"/>
                  </a:lnTo>
                  <a:cubicBezTo>
                    <a:pt x="1228029" y="920700"/>
                    <a:pt x="1183696" y="965033"/>
                    <a:pt x="1129008" y="965033"/>
                  </a:cubicBezTo>
                  <a:lnTo>
                    <a:pt x="99021" y="965033"/>
                  </a:lnTo>
                  <a:cubicBezTo>
                    <a:pt x="72759" y="965033"/>
                    <a:pt x="47573" y="954600"/>
                    <a:pt x="29003" y="936030"/>
                  </a:cubicBezTo>
                  <a:cubicBezTo>
                    <a:pt x="10433" y="917460"/>
                    <a:pt x="0" y="892274"/>
                    <a:pt x="0" y="866012"/>
                  </a:cubicBezTo>
                  <a:lnTo>
                    <a:pt x="0" y="99021"/>
                  </a:lnTo>
                  <a:cubicBezTo>
                    <a:pt x="0" y="72759"/>
                    <a:pt x="10433" y="47573"/>
                    <a:pt x="29003" y="29003"/>
                  </a:cubicBezTo>
                  <a:cubicBezTo>
                    <a:pt x="47573" y="10433"/>
                    <a:pt x="72759" y="0"/>
                    <a:pt x="99021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28575"/>
              <a:ext cx="1228029" cy="936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275938" y="4706643"/>
            <a:ext cx="953440" cy="95344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9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5481294" y="8097045"/>
            <a:ext cx="1329047" cy="1161255"/>
          </a:xfrm>
          <a:custGeom>
            <a:avLst/>
            <a:gdLst/>
            <a:ahLst/>
            <a:cxnLst/>
            <a:rect l="l" t="t" r="r" b="b"/>
            <a:pathLst>
              <a:path w="1329047" h="1161255">
                <a:moveTo>
                  <a:pt x="0" y="0"/>
                </a:moveTo>
                <a:lnTo>
                  <a:pt x="1329047" y="0"/>
                </a:lnTo>
                <a:lnTo>
                  <a:pt x="1329047" y="1161255"/>
                </a:lnTo>
                <a:lnTo>
                  <a:pt x="0" y="116125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12722380" y="6858226"/>
            <a:ext cx="3289786" cy="229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191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Download shipping details at any time</a:t>
            </a:r>
          </a:p>
          <a:p>
            <a:pPr marL="406191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Track shipment status and view live location</a:t>
            </a:r>
          </a:p>
          <a:p>
            <a:pPr marL="406191" lvl="1" indent="-203095" algn="l">
              <a:lnSpc>
                <a:spcPts val="2633"/>
              </a:lnSpc>
              <a:buFont typeface="Arial"/>
              <a:buChar char="•"/>
            </a:pPr>
            <a:r>
              <a:rPr lang="en-US" sz="1881" spc="-111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Supports both air and sea shipping</a:t>
            </a:r>
          </a:p>
          <a:p>
            <a:pPr algn="l">
              <a:lnSpc>
                <a:spcPts val="2633"/>
              </a:lnSpc>
            </a:pPr>
            <a:endParaRPr lang="en-US" sz="1881" spc="-111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435868" y="5033529"/>
            <a:ext cx="633580" cy="31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223" b="1" spc="-28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752658" y="6261658"/>
            <a:ext cx="2903253" cy="59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7"/>
              </a:lnSpc>
            </a:pPr>
            <a:r>
              <a:rPr lang="en-US" sz="2097" spc="-2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TR</a:t>
            </a:r>
            <a:r>
              <a:rPr lang="en-US" sz="2097" b="1" spc="-27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ACKING &amp; DOCUMENTATION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2662" y="2934182"/>
            <a:ext cx="4418635" cy="4418635"/>
          </a:xfrm>
          <a:custGeom>
            <a:avLst/>
            <a:gdLst/>
            <a:ahLst/>
            <a:cxnLst/>
            <a:rect l="l" t="t" r="r" b="b"/>
            <a:pathLst>
              <a:path w="4418635" h="4418635">
                <a:moveTo>
                  <a:pt x="0" y="0"/>
                </a:moveTo>
                <a:lnTo>
                  <a:pt x="4418635" y="0"/>
                </a:lnTo>
                <a:lnTo>
                  <a:pt x="4418635" y="4418636"/>
                </a:lnTo>
                <a:lnTo>
                  <a:pt x="0" y="4418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4" name="Freeform 4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383603" y="3491764"/>
            <a:ext cx="4344492" cy="5246370"/>
            <a:chOff x="0" y="0"/>
            <a:chExt cx="1739900" cy="2101088"/>
          </a:xfrm>
        </p:grpSpPr>
        <p:sp>
          <p:nvSpPr>
            <p:cNvPr id="8" name="Freeform 8"/>
            <p:cNvSpPr/>
            <p:nvPr/>
          </p:nvSpPr>
          <p:spPr>
            <a:xfrm>
              <a:off x="-127" y="127"/>
              <a:ext cx="1739773" cy="2101017"/>
            </a:xfrm>
            <a:custGeom>
              <a:avLst/>
              <a:gdLst/>
              <a:ahLst/>
              <a:cxnLst/>
              <a:rect l="l" t="t" r="r" b="b"/>
              <a:pathLst>
                <a:path w="1739773" h="2101017">
                  <a:moveTo>
                    <a:pt x="1338707" y="2095373"/>
                  </a:moveTo>
                  <a:cubicBezTo>
                    <a:pt x="1282827" y="2108073"/>
                    <a:pt x="1257427" y="2095373"/>
                    <a:pt x="1200277" y="2095373"/>
                  </a:cubicBezTo>
                  <a:cubicBezTo>
                    <a:pt x="1143127" y="2095373"/>
                    <a:pt x="1052068" y="2082673"/>
                    <a:pt x="1052068" y="2082673"/>
                  </a:cubicBezTo>
                  <a:lnTo>
                    <a:pt x="707771" y="2082673"/>
                  </a:lnTo>
                  <a:lnTo>
                    <a:pt x="631063" y="2069973"/>
                  </a:lnTo>
                  <a:cubicBezTo>
                    <a:pt x="631063" y="2069973"/>
                    <a:pt x="533400" y="2082673"/>
                    <a:pt x="457581" y="2069973"/>
                  </a:cubicBezTo>
                  <a:cubicBezTo>
                    <a:pt x="381762" y="2057273"/>
                    <a:pt x="296418" y="2069973"/>
                    <a:pt x="296418" y="2069973"/>
                  </a:cubicBezTo>
                  <a:cubicBezTo>
                    <a:pt x="240284" y="2069973"/>
                    <a:pt x="162814" y="2065655"/>
                    <a:pt x="119507" y="2036445"/>
                  </a:cubicBezTo>
                  <a:cubicBezTo>
                    <a:pt x="47371" y="1987804"/>
                    <a:pt x="25400" y="1917573"/>
                    <a:pt x="0" y="1811782"/>
                  </a:cubicBezTo>
                  <a:lnTo>
                    <a:pt x="0" y="1611249"/>
                  </a:lnTo>
                  <a:cubicBezTo>
                    <a:pt x="0" y="1611249"/>
                    <a:pt x="12700" y="1526286"/>
                    <a:pt x="12700" y="1467993"/>
                  </a:cubicBezTo>
                  <a:cubicBezTo>
                    <a:pt x="12700" y="1409700"/>
                    <a:pt x="0" y="1319784"/>
                    <a:pt x="0" y="1319784"/>
                  </a:cubicBezTo>
                  <a:lnTo>
                    <a:pt x="0" y="803402"/>
                  </a:lnTo>
                  <a:cubicBezTo>
                    <a:pt x="0" y="803402"/>
                    <a:pt x="12700" y="767715"/>
                    <a:pt x="12700" y="688594"/>
                  </a:cubicBezTo>
                  <a:lnTo>
                    <a:pt x="12700" y="543560"/>
                  </a:lnTo>
                  <a:cubicBezTo>
                    <a:pt x="12700" y="543560"/>
                    <a:pt x="0" y="459740"/>
                    <a:pt x="12700" y="375920"/>
                  </a:cubicBezTo>
                  <a:cubicBezTo>
                    <a:pt x="25400" y="292100"/>
                    <a:pt x="23876" y="258064"/>
                    <a:pt x="64897" y="195072"/>
                  </a:cubicBezTo>
                  <a:cubicBezTo>
                    <a:pt x="87249" y="160782"/>
                    <a:pt x="184404" y="76708"/>
                    <a:pt x="215900" y="50800"/>
                  </a:cubicBezTo>
                  <a:cubicBezTo>
                    <a:pt x="215900" y="50800"/>
                    <a:pt x="305181" y="24130"/>
                    <a:pt x="401320" y="12700"/>
                  </a:cubicBezTo>
                  <a:cubicBezTo>
                    <a:pt x="508000" y="0"/>
                    <a:pt x="481584" y="0"/>
                    <a:pt x="622300" y="0"/>
                  </a:cubicBezTo>
                  <a:lnTo>
                    <a:pt x="1220724" y="0"/>
                  </a:lnTo>
                  <a:cubicBezTo>
                    <a:pt x="1320800" y="0"/>
                    <a:pt x="1389253" y="12700"/>
                    <a:pt x="1389253" y="12700"/>
                  </a:cubicBezTo>
                  <a:cubicBezTo>
                    <a:pt x="1453388" y="12700"/>
                    <a:pt x="1542161" y="36322"/>
                    <a:pt x="1600073" y="50800"/>
                  </a:cubicBezTo>
                  <a:cubicBezTo>
                    <a:pt x="1701673" y="76200"/>
                    <a:pt x="1727073" y="254000"/>
                    <a:pt x="1727073" y="350520"/>
                  </a:cubicBezTo>
                  <a:lnTo>
                    <a:pt x="1727073" y="1228979"/>
                  </a:lnTo>
                  <a:cubicBezTo>
                    <a:pt x="1727073" y="1228979"/>
                    <a:pt x="1739773" y="1597660"/>
                    <a:pt x="1739773" y="1630680"/>
                  </a:cubicBezTo>
                  <a:cubicBezTo>
                    <a:pt x="1739773" y="1663700"/>
                    <a:pt x="1717294" y="1771650"/>
                    <a:pt x="1699387" y="1817878"/>
                  </a:cubicBezTo>
                  <a:cubicBezTo>
                    <a:pt x="1674368" y="1882521"/>
                    <a:pt x="1684528" y="1939417"/>
                    <a:pt x="1632712" y="1983613"/>
                  </a:cubicBezTo>
                  <a:cubicBezTo>
                    <a:pt x="1596644" y="2014474"/>
                    <a:pt x="1542542" y="2051812"/>
                    <a:pt x="1497330" y="2068957"/>
                  </a:cubicBezTo>
                  <a:cubicBezTo>
                    <a:pt x="1452118" y="2086102"/>
                    <a:pt x="1394333" y="2082800"/>
                    <a:pt x="1338453" y="2095500"/>
                  </a:cubicBezTo>
                  <a:close/>
                </a:path>
              </a:pathLst>
            </a:custGeom>
            <a:blipFill>
              <a:blip r:embed="rId6"/>
              <a:stretch>
                <a:fillRect l="-10381" r="-103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90063" y="3491764"/>
            <a:ext cx="5246370" cy="524637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83603" y="2016674"/>
            <a:ext cx="12183951" cy="91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418" spc="-83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API-INTEGRATION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14593" y="8276258"/>
            <a:ext cx="2597309" cy="27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  <a:spcBef>
                <a:spcPct val="0"/>
              </a:spcBef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MYSHIPTRACKING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4905078" y="8548991"/>
            <a:ext cx="10670831" cy="1067083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994794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2069" y="-1482243"/>
            <a:ext cx="4418635" cy="4418635"/>
          </a:xfrm>
          <a:custGeom>
            <a:avLst/>
            <a:gdLst/>
            <a:ahLst/>
            <a:cxnLst/>
            <a:rect l="l" t="t" r="r" b="b"/>
            <a:pathLst>
              <a:path w="4418635" h="4418635">
                <a:moveTo>
                  <a:pt x="0" y="0"/>
                </a:moveTo>
                <a:lnTo>
                  <a:pt x="4418635" y="0"/>
                </a:lnTo>
                <a:lnTo>
                  <a:pt x="4418635" y="4418636"/>
                </a:lnTo>
                <a:lnTo>
                  <a:pt x="0" y="4418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4" name="Freeform 4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19752" t="42557" r="22799" b="44656"/>
          <a:stretch>
            <a:fillRect/>
          </a:stretch>
        </p:blipFill>
        <p:spPr>
          <a:xfrm>
            <a:off x="7841304" y="3400394"/>
            <a:ext cx="4013749" cy="669964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11685277" y="7646900"/>
            <a:ext cx="5574023" cy="2717248"/>
          </a:xfrm>
          <a:custGeom>
            <a:avLst/>
            <a:gdLst/>
            <a:ahLst/>
            <a:cxnLst/>
            <a:rect l="l" t="t" r="r" b="b"/>
            <a:pathLst>
              <a:path w="5574023" h="2717248">
                <a:moveTo>
                  <a:pt x="0" y="0"/>
                </a:moveTo>
                <a:lnTo>
                  <a:pt x="5574023" y="0"/>
                </a:lnTo>
                <a:lnTo>
                  <a:pt x="5574023" y="2717247"/>
                </a:lnTo>
                <a:lnTo>
                  <a:pt x="0" y="2717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9349" t="-250246" r="-312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8681836"/>
            <a:ext cx="2942800" cy="1605164"/>
          </a:xfrm>
          <a:custGeom>
            <a:avLst/>
            <a:gdLst/>
            <a:ahLst/>
            <a:cxnLst/>
            <a:rect l="l" t="t" r="r" b="b"/>
            <a:pathLst>
              <a:path w="2942800" h="1605164">
                <a:moveTo>
                  <a:pt x="0" y="0"/>
                </a:moveTo>
                <a:lnTo>
                  <a:pt x="2942800" y="0"/>
                </a:lnTo>
                <a:lnTo>
                  <a:pt x="2942800" y="1605164"/>
                </a:lnTo>
                <a:lnTo>
                  <a:pt x="0" y="1605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259802" y="2779435"/>
            <a:ext cx="3437834" cy="1241918"/>
          </a:xfrm>
          <a:custGeom>
            <a:avLst/>
            <a:gdLst/>
            <a:ahLst/>
            <a:cxnLst/>
            <a:rect l="l" t="t" r="r" b="b"/>
            <a:pathLst>
              <a:path w="3437834" h="1241918">
                <a:moveTo>
                  <a:pt x="0" y="0"/>
                </a:moveTo>
                <a:lnTo>
                  <a:pt x="3437834" y="0"/>
                </a:lnTo>
                <a:lnTo>
                  <a:pt x="3437834" y="1241918"/>
                </a:lnTo>
                <a:lnTo>
                  <a:pt x="0" y="1241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3508231" y="2448287"/>
            <a:ext cx="2131664" cy="2574179"/>
            <a:chOff x="0" y="0"/>
            <a:chExt cx="1739900" cy="2101088"/>
          </a:xfrm>
        </p:grpSpPr>
        <p:sp>
          <p:nvSpPr>
            <p:cNvPr id="12" name="Freeform 12"/>
            <p:cNvSpPr/>
            <p:nvPr/>
          </p:nvSpPr>
          <p:spPr>
            <a:xfrm>
              <a:off x="-127" y="127"/>
              <a:ext cx="1739773" cy="2101017"/>
            </a:xfrm>
            <a:custGeom>
              <a:avLst/>
              <a:gdLst/>
              <a:ahLst/>
              <a:cxnLst/>
              <a:rect l="l" t="t" r="r" b="b"/>
              <a:pathLst>
                <a:path w="1739773" h="2101017">
                  <a:moveTo>
                    <a:pt x="1338707" y="2095373"/>
                  </a:moveTo>
                  <a:cubicBezTo>
                    <a:pt x="1282827" y="2108073"/>
                    <a:pt x="1257427" y="2095373"/>
                    <a:pt x="1200277" y="2095373"/>
                  </a:cubicBezTo>
                  <a:cubicBezTo>
                    <a:pt x="1143127" y="2095373"/>
                    <a:pt x="1052068" y="2082673"/>
                    <a:pt x="1052068" y="2082673"/>
                  </a:cubicBezTo>
                  <a:lnTo>
                    <a:pt x="707771" y="2082673"/>
                  </a:lnTo>
                  <a:lnTo>
                    <a:pt x="631063" y="2069973"/>
                  </a:lnTo>
                  <a:cubicBezTo>
                    <a:pt x="631063" y="2069973"/>
                    <a:pt x="533400" y="2082673"/>
                    <a:pt x="457581" y="2069973"/>
                  </a:cubicBezTo>
                  <a:cubicBezTo>
                    <a:pt x="381762" y="2057273"/>
                    <a:pt x="296418" y="2069973"/>
                    <a:pt x="296418" y="2069973"/>
                  </a:cubicBezTo>
                  <a:cubicBezTo>
                    <a:pt x="240284" y="2069973"/>
                    <a:pt x="162814" y="2065655"/>
                    <a:pt x="119507" y="2036445"/>
                  </a:cubicBezTo>
                  <a:cubicBezTo>
                    <a:pt x="47371" y="1987804"/>
                    <a:pt x="25400" y="1917573"/>
                    <a:pt x="0" y="1811782"/>
                  </a:cubicBezTo>
                  <a:lnTo>
                    <a:pt x="0" y="1611249"/>
                  </a:lnTo>
                  <a:cubicBezTo>
                    <a:pt x="0" y="1611249"/>
                    <a:pt x="12700" y="1526286"/>
                    <a:pt x="12700" y="1467993"/>
                  </a:cubicBezTo>
                  <a:cubicBezTo>
                    <a:pt x="12700" y="1409700"/>
                    <a:pt x="0" y="1319784"/>
                    <a:pt x="0" y="1319784"/>
                  </a:cubicBezTo>
                  <a:lnTo>
                    <a:pt x="0" y="803402"/>
                  </a:lnTo>
                  <a:cubicBezTo>
                    <a:pt x="0" y="803402"/>
                    <a:pt x="12700" y="767715"/>
                    <a:pt x="12700" y="688594"/>
                  </a:cubicBezTo>
                  <a:lnTo>
                    <a:pt x="12700" y="543560"/>
                  </a:lnTo>
                  <a:cubicBezTo>
                    <a:pt x="12700" y="543560"/>
                    <a:pt x="0" y="459740"/>
                    <a:pt x="12700" y="375920"/>
                  </a:cubicBezTo>
                  <a:cubicBezTo>
                    <a:pt x="25400" y="292100"/>
                    <a:pt x="23876" y="258064"/>
                    <a:pt x="64897" y="195072"/>
                  </a:cubicBezTo>
                  <a:cubicBezTo>
                    <a:pt x="87249" y="160782"/>
                    <a:pt x="184404" y="76708"/>
                    <a:pt x="215900" y="50800"/>
                  </a:cubicBezTo>
                  <a:cubicBezTo>
                    <a:pt x="215900" y="50800"/>
                    <a:pt x="305181" y="24130"/>
                    <a:pt x="401320" y="12700"/>
                  </a:cubicBezTo>
                  <a:cubicBezTo>
                    <a:pt x="508000" y="0"/>
                    <a:pt x="481584" y="0"/>
                    <a:pt x="622300" y="0"/>
                  </a:cubicBezTo>
                  <a:lnTo>
                    <a:pt x="1220724" y="0"/>
                  </a:lnTo>
                  <a:cubicBezTo>
                    <a:pt x="1320800" y="0"/>
                    <a:pt x="1389253" y="12700"/>
                    <a:pt x="1389253" y="12700"/>
                  </a:cubicBezTo>
                  <a:cubicBezTo>
                    <a:pt x="1453388" y="12700"/>
                    <a:pt x="1542161" y="36322"/>
                    <a:pt x="1600073" y="50800"/>
                  </a:cubicBezTo>
                  <a:cubicBezTo>
                    <a:pt x="1701673" y="76200"/>
                    <a:pt x="1727073" y="254000"/>
                    <a:pt x="1727073" y="350520"/>
                  </a:cubicBezTo>
                  <a:lnTo>
                    <a:pt x="1727073" y="1228979"/>
                  </a:lnTo>
                  <a:cubicBezTo>
                    <a:pt x="1727073" y="1228979"/>
                    <a:pt x="1739773" y="1597660"/>
                    <a:pt x="1739773" y="1630680"/>
                  </a:cubicBezTo>
                  <a:cubicBezTo>
                    <a:pt x="1739773" y="1663700"/>
                    <a:pt x="1717294" y="1771650"/>
                    <a:pt x="1699387" y="1817878"/>
                  </a:cubicBezTo>
                  <a:cubicBezTo>
                    <a:pt x="1674368" y="1882521"/>
                    <a:pt x="1684528" y="1939417"/>
                    <a:pt x="1632712" y="1983613"/>
                  </a:cubicBezTo>
                  <a:cubicBezTo>
                    <a:pt x="1596644" y="2014474"/>
                    <a:pt x="1542542" y="2051812"/>
                    <a:pt x="1497330" y="2068957"/>
                  </a:cubicBezTo>
                  <a:cubicBezTo>
                    <a:pt x="1452118" y="2086102"/>
                    <a:pt x="1394333" y="2082800"/>
                    <a:pt x="1338453" y="2095500"/>
                  </a:cubicBezTo>
                  <a:close/>
                </a:path>
              </a:pathLst>
            </a:custGeom>
            <a:blipFill>
              <a:blip r:embed="rId14"/>
              <a:stretch>
                <a:fillRect l="-10381" r="-103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43394" y="5524445"/>
            <a:ext cx="1989104" cy="1989104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" name="Picture 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19752" t="42557" r="22799" b="44656"/>
          <a:stretch>
            <a:fillRect/>
          </a:stretch>
        </p:blipFill>
        <p:spPr>
          <a:xfrm>
            <a:off x="7808195" y="6184015"/>
            <a:ext cx="4013749" cy="669964"/>
          </a:xfrm>
          <a:prstGeom prst="rect">
            <a:avLst/>
          </a:prstGeom>
        </p:spPr>
      </p:pic>
      <p:sp>
        <p:nvSpPr>
          <p:cNvPr id="16" name="Freeform 16"/>
          <p:cNvSpPr/>
          <p:nvPr/>
        </p:nvSpPr>
        <p:spPr>
          <a:xfrm>
            <a:off x="2894881" y="4583328"/>
            <a:ext cx="4167677" cy="2766295"/>
          </a:xfrm>
          <a:custGeom>
            <a:avLst/>
            <a:gdLst/>
            <a:ahLst/>
            <a:cxnLst/>
            <a:rect l="l" t="t" r="r" b="b"/>
            <a:pathLst>
              <a:path w="4167677" h="2766295">
                <a:moveTo>
                  <a:pt x="0" y="0"/>
                </a:moveTo>
                <a:lnTo>
                  <a:pt x="4167677" y="0"/>
                </a:lnTo>
                <a:lnTo>
                  <a:pt x="4167677" y="2766295"/>
                </a:lnTo>
                <a:lnTo>
                  <a:pt x="0" y="27662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021929" y="7911598"/>
            <a:ext cx="4040628" cy="2075873"/>
          </a:xfrm>
          <a:custGeom>
            <a:avLst/>
            <a:gdLst/>
            <a:ahLst/>
            <a:cxnLst/>
            <a:rect l="l" t="t" r="r" b="b"/>
            <a:pathLst>
              <a:path w="4040628" h="2075873">
                <a:moveTo>
                  <a:pt x="0" y="0"/>
                </a:moveTo>
                <a:lnTo>
                  <a:pt x="4040629" y="0"/>
                </a:lnTo>
                <a:lnTo>
                  <a:pt x="4040629" y="2075873"/>
                </a:lnTo>
                <a:lnTo>
                  <a:pt x="0" y="20758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55944" y="1299968"/>
            <a:ext cx="12183951" cy="91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0"/>
              </a:lnSpc>
            </a:pPr>
            <a:r>
              <a:rPr lang="en-US" sz="6418" spc="-83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API-INTEGRATION </a:t>
            </a:r>
          </a:p>
        </p:txBody>
      </p:sp>
      <p:pic>
        <p:nvPicPr>
          <p:cNvPr id="23" name="Picture 2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19752" t="42557" r="22799" b="44656"/>
          <a:stretch>
            <a:fillRect/>
          </a:stretch>
        </p:blipFill>
        <p:spPr>
          <a:xfrm>
            <a:off x="7869696" y="8814454"/>
            <a:ext cx="4013749" cy="669964"/>
          </a:xfrm>
          <a:prstGeom prst="rect">
            <a:avLst/>
          </a:prstGeom>
        </p:spPr>
      </p:pic>
      <p:sp>
        <p:nvSpPr>
          <p:cNvPr id="24" name="Freeform 24"/>
          <p:cNvSpPr/>
          <p:nvPr/>
        </p:nvSpPr>
        <p:spPr>
          <a:xfrm>
            <a:off x="9210675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0">
                <p:cTn id="3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0">
                <p:cTn id="4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3840" y="-1863557"/>
            <a:ext cx="4418635" cy="4418635"/>
          </a:xfrm>
          <a:custGeom>
            <a:avLst/>
            <a:gdLst/>
            <a:ahLst/>
            <a:cxnLst/>
            <a:rect l="l" t="t" r="r" b="b"/>
            <a:pathLst>
              <a:path w="4418635" h="4418635">
                <a:moveTo>
                  <a:pt x="0" y="0"/>
                </a:moveTo>
                <a:lnTo>
                  <a:pt x="4418635" y="0"/>
                </a:lnTo>
                <a:lnTo>
                  <a:pt x="4418635" y="4418636"/>
                </a:lnTo>
                <a:lnTo>
                  <a:pt x="0" y="4418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4" name="Freeform 4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681544" y="8534882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7" y="0"/>
                </a:lnTo>
                <a:lnTo>
                  <a:pt x="550727" y="550727"/>
                </a:lnTo>
                <a:lnTo>
                  <a:pt x="0" y="550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6400359"/>
            <a:ext cx="5969590" cy="2857941"/>
          </a:xfrm>
          <a:custGeom>
            <a:avLst/>
            <a:gdLst/>
            <a:ahLst/>
            <a:cxnLst/>
            <a:rect l="l" t="t" r="r" b="b"/>
            <a:pathLst>
              <a:path w="5969590" h="2857941">
                <a:moveTo>
                  <a:pt x="0" y="0"/>
                </a:moveTo>
                <a:lnTo>
                  <a:pt x="5969590" y="0"/>
                </a:lnTo>
                <a:lnTo>
                  <a:pt x="5969590" y="2857941"/>
                </a:lnTo>
                <a:lnTo>
                  <a:pt x="0" y="28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313237" y="6392897"/>
            <a:ext cx="6016595" cy="2865403"/>
          </a:xfrm>
          <a:custGeom>
            <a:avLst/>
            <a:gdLst/>
            <a:ahLst/>
            <a:cxnLst/>
            <a:rect l="l" t="t" r="r" b="b"/>
            <a:pathLst>
              <a:path w="6016595" h="2865403">
                <a:moveTo>
                  <a:pt x="0" y="0"/>
                </a:moveTo>
                <a:lnTo>
                  <a:pt x="6016595" y="0"/>
                </a:lnTo>
                <a:lnTo>
                  <a:pt x="6016595" y="2865403"/>
                </a:lnTo>
                <a:lnTo>
                  <a:pt x="0" y="286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167125" y="6430207"/>
            <a:ext cx="5969590" cy="2828093"/>
          </a:xfrm>
          <a:custGeom>
            <a:avLst/>
            <a:gdLst/>
            <a:ahLst/>
            <a:cxnLst/>
            <a:rect l="l" t="t" r="r" b="b"/>
            <a:pathLst>
              <a:path w="5969590" h="2828093">
                <a:moveTo>
                  <a:pt x="0" y="0"/>
                </a:moveTo>
                <a:lnTo>
                  <a:pt x="5969589" y="0"/>
                </a:lnTo>
                <a:lnTo>
                  <a:pt x="5969589" y="2828093"/>
                </a:lnTo>
                <a:lnTo>
                  <a:pt x="0" y="2828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336739" y="2668198"/>
            <a:ext cx="5969590" cy="2887789"/>
          </a:xfrm>
          <a:custGeom>
            <a:avLst/>
            <a:gdLst/>
            <a:ahLst/>
            <a:cxnLst/>
            <a:rect l="l" t="t" r="r" b="b"/>
            <a:pathLst>
              <a:path w="5969590" h="2887789">
                <a:moveTo>
                  <a:pt x="0" y="0"/>
                </a:moveTo>
                <a:lnTo>
                  <a:pt x="5969590" y="0"/>
                </a:lnTo>
                <a:lnTo>
                  <a:pt x="5969590" y="2887789"/>
                </a:lnTo>
                <a:lnTo>
                  <a:pt x="0" y="28877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167125" y="2668198"/>
            <a:ext cx="5969590" cy="2857941"/>
          </a:xfrm>
          <a:custGeom>
            <a:avLst/>
            <a:gdLst/>
            <a:ahLst/>
            <a:cxnLst/>
            <a:rect l="l" t="t" r="r" b="b"/>
            <a:pathLst>
              <a:path w="5969590" h="2857941">
                <a:moveTo>
                  <a:pt x="0" y="0"/>
                </a:moveTo>
                <a:lnTo>
                  <a:pt x="5969589" y="0"/>
                </a:lnTo>
                <a:lnTo>
                  <a:pt x="5969589" y="2857941"/>
                </a:lnTo>
                <a:lnTo>
                  <a:pt x="0" y="2857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2698046"/>
            <a:ext cx="5969590" cy="2865403"/>
          </a:xfrm>
          <a:custGeom>
            <a:avLst/>
            <a:gdLst/>
            <a:ahLst/>
            <a:cxnLst/>
            <a:rect l="l" t="t" r="r" b="b"/>
            <a:pathLst>
              <a:path w="5969590" h="2865403">
                <a:moveTo>
                  <a:pt x="0" y="0"/>
                </a:moveTo>
                <a:lnTo>
                  <a:pt x="5969590" y="0"/>
                </a:lnTo>
                <a:lnTo>
                  <a:pt x="5969590" y="2865403"/>
                </a:lnTo>
                <a:lnTo>
                  <a:pt x="0" y="28654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7091694" y="8810246"/>
            <a:ext cx="1196306" cy="143270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1212856" y="6635690"/>
            <a:ext cx="850306" cy="37838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2327235"/>
            <a:ext cx="953440" cy="953440"/>
            <a:chOff x="0" y="0"/>
            <a:chExt cx="1271254" cy="1271254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271254" cy="1271254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13240" y="429498"/>
              <a:ext cx="844773" cy="43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5"/>
                </a:lnSpc>
              </a:pPr>
              <a:r>
                <a:rPr lang="en-US" sz="2223" b="1" spc="-28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01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13237" y="6060636"/>
            <a:ext cx="953440" cy="953440"/>
            <a:chOff x="0" y="0"/>
            <a:chExt cx="1271254" cy="1271254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271254" cy="1271254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13240" y="429498"/>
              <a:ext cx="844773" cy="43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5"/>
                </a:lnSpc>
              </a:pPr>
              <a:r>
                <a:rPr lang="en-US" sz="2223" b="1" spc="-28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06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313237" y="2307715"/>
            <a:ext cx="953440" cy="953440"/>
            <a:chOff x="0" y="0"/>
            <a:chExt cx="1271254" cy="127125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271254" cy="127125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13240" y="429498"/>
              <a:ext cx="844773" cy="43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5"/>
                </a:lnSpc>
              </a:pPr>
              <a:r>
                <a:rPr lang="en-US" sz="2223" b="1" spc="-28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03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167125" y="6060636"/>
            <a:ext cx="953440" cy="953440"/>
            <a:chOff x="0" y="0"/>
            <a:chExt cx="1271254" cy="1271254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271254" cy="1271254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213240" y="429498"/>
              <a:ext cx="844773" cy="43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5"/>
                </a:lnSpc>
              </a:pPr>
              <a:r>
                <a:rPr lang="en-US" sz="2223" b="1" spc="-28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05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060636"/>
            <a:ext cx="953440" cy="953440"/>
            <a:chOff x="0" y="0"/>
            <a:chExt cx="1271254" cy="1271254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271254" cy="1271254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213240" y="429498"/>
              <a:ext cx="844773" cy="43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5"/>
                </a:lnSpc>
              </a:pPr>
              <a:r>
                <a:rPr lang="en-US" sz="2223" b="1" spc="-28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04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67125" y="2288195"/>
            <a:ext cx="953440" cy="953440"/>
            <a:chOff x="0" y="0"/>
            <a:chExt cx="1271254" cy="127125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271254" cy="1271254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00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213240" y="429498"/>
              <a:ext cx="844773" cy="430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5"/>
                </a:lnSpc>
              </a:pPr>
              <a:r>
                <a:rPr lang="en-US" sz="2223" b="1" spc="-28">
                  <a:solidFill>
                    <a:srgbClr val="FFFFFF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02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10708171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1" y="0"/>
                </a:lnTo>
                <a:lnTo>
                  <a:pt x="1104621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0341" y="8982937"/>
            <a:ext cx="550726" cy="550726"/>
          </a:xfrm>
          <a:custGeom>
            <a:avLst/>
            <a:gdLst/>
            <a:ahLst/>
            <a:cxnLst/>
            <a:rect l="l" t="t" r="r" b="b"/>
            <a:pathLst>
              <a:path w="550726" h="550726">
                <a:moveTo>
                  <a:pt x="0" y="0"/>
                </a:moveTo>
                <a:lnTo>
                  <a:pt x="550726" y="0"/>
                </a:lnTo>
                <a:lnTo>
                  <a:pt x="550726" y="550726"/>
                </a:lnTo>
                <a:lnTo>
                  <a:pt x="0" y="550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30600" y="13425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009263" y="5457341"/>
            <a:ext cx="2134737" cy="213473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2567" y="2323810"/>
            <a:ext cx="13511382" cy="8956574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17344" y="5470814"/>
            <a:ext cx="1668145" cy="16681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530088" y="7592078"/>
            <a:ext cx="4315577" cy="431557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7529" y="3849425"/>
            <a:ext cx="5484053" cy="6579068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470925">
            <a:off x="936403" y="2117168"/>
            <a:ext cx="2481638" cy="493776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8249876" y="581638"/>
            <a:ext cx="894124" cy="8941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595754" y="1657897"/>
            <a:ext cx="4881834" cy="137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09"/>
              </a:lnSpc>
            </a:pPr>
            <a:r>
              <a:rPr lang="en-US" sz="5105" b="1" spc="-6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CUSTOMER</a:t>
            </a:r>
          </a:p>
          <a:p>
            <a:pPr algn="just">
              <a:lnSpc>
                <a:spcPts val="5309"/>
              </a:lnSpc>
            </a:pPr>
            <a:r>
              <a:rPr lang="en-US" sz="5105" b="1" spc="-6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VIEW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21" name="Freeform 21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907669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1" y="0"/>
                </a:lnTo>
                <a:lnTo>
                  <a:pt x="1104621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002" y="3768721"/>
            <a:ext cx="4778427" cy="2744790"/>
            <a:chOff x="0" y="0"/>
            <a:chExt cx="6371235" cy="3659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4248" cy="3380320"/>
            </a:xfrm>
            <a:custGeom>
              <a:avLst/>
              <a:gdLst/>
              <a:ahLst/>
              <a:cxnLst/>
              <a:rect l="l" t="t" r="r" b="b"/>
              <a:pathLst>
                <a:path w="5994248" h="3380320">
                  <a:moveTo>
                    <a:pt x="0" y="0"/>
                  </a:moveTo>
                  <a:lnTo>
                    <a:pt x="5994248" y="0"/>
                  </a:lnTo>
                  <a:lnTo>
                    <a:pt x="5994248" y="3380320"/>
                  </a:lnTo>
                  <a:lnTo>
                    <a:pt x="0" y="338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9000"/>
              </a:blip>
              <a:stretch>
                <a:fillRect r="-58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98035" y="205162"/>
              <a:ext cx="5673200" cy="3454558"/>
              <a:chOff x="0" y="0"/>
              <a:chExt cx="1294682" cy="7883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294682" cy="788365"/>
              </a:xfrm>
              <a:custGeom>
                <a:avLst/>
                <a:gdLst/>
                <a:ahLst/>
                <a:cxnLst/>
                <a:rect l="l" t="t" r="r" b="b"/>
                <a:pathLst>
                  <a:path w="1294682" h="788365">
                    <a:moveTo>
                      <a:pt x="92796" y="0"/>
                    </a:moveTo>
                    <a:lnTo>
                      <a:pt x="1201886" y="0"/>
                    </a:lnTo>
                    <a:cubicBezTo>
                      <a:pt x="1253136" y="0"/>
                      <a:pt x="1294682" y="41546"/>
                      <a:pt x="1294682" y="92796"/>
                    </a:cubicBezTo>
                    <a:lnTo>
                      <a:pt x="1294682" y="695569"/>
                    </a:lnTo>
                    <a:cubicBezTo>
                      <a:pt x="1294682" y="720180"/>
                      <a:pt x="1284906" y="743783"/>
                      <a:pt x="1267503" y="761186"/>
                    </a:cubicBezTo>
                    <a:cubicBezTo>
                      <a:pt x="1250100" y="778589"/>
                      <a:pt x="1226497" y="788365"/>
                      <a:pt x="1201886" y="788365"/>
                    </a:cubicBezTo>
                    <a:lnTo>
                      <a:pt x="92796" y="788365"/>
                    </a:lnTo>
                    <a:cubicBezTo>
                      <a:pt x="41546" y="788365"/>
                      <a:pt x="0" y="746819"/>
                      <a:pt x="0" y="695569"/>
                    </a:cubicBezTo>
                    <a:lnTo>
                      <a:pt x="0" y="92796"/>
                    </a:lnTo>
                    <a:cubicBezTo>
                      <a:pt x="0" y="68185"/>
                      <a:pt x="9777" y="44582"/>
                      <a:pt x="27179" y="27179"/>
                    </a:cubicBezTo>
                    <a:cubicBezTo>
                      <a:pt x="44582" y="9777"/>
                      <a:pt x="68185" y="0"/>
                      <a:pt x="92796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28575"/>
                <a:ext cx="1294682" cy="7597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458413" y="1314215"/>
              <a:ext cx="4726850" cy="2186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11126" lvl="1" indent="-205563" algn="l">
                <a:lnSpc>
                  <a:spcPts val="2665"/>
                </a:lnSpc>
                <a:buFont typeface="Arial"/>
                <a:buChar char="•"/>
              </a:pPr>
              <a:r>
                <a:rPr lang="en-US" sz="1904" spc="-112">
                  <a:solidFill>
                    <a:srgbClr val="FFF6F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Receives the shipping request automatically</a:t>
              </a:r>
            </a:p>
            <a:p>
              <a:pPr marL="411126" lvl="1" indent="-205563" algn="l">
                <a:lnSpc>
                  <a:spcPts val="2665"/>
                </a:lnSpc>
                <a:buFont typeface="Arial"/>
                <a:buChar char="•"/>
              </a:pPr>
              <a:r>
                <a:rPr lang="en-US" sz="1904" spc="-112">
                  <a:solidFill>
                    <a:srgbClr val="FFF6F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Reviews shipment details (type, route, cargo, priority)</a:t>
              </a:r>
            </a:p>
            <a:p>
              <a:pPr algn="l">
                <a:lnSpc>
                  <a:spcPts val="2665"/>
                </a:lnSpc>
              </a:pPr>
              <a:endParaRPr lang="en-US" sz="1904" spc="-112">
                <a:solidFill>
                  <a:srgbClr val="FFF6F3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44386" y="608186"/>
              <a:ext cx="3843044" cy="411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2163" spc="-28">
                  <a:solidFill>
                    <a:srgbClr val="FFF6F3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REQUES</a:t>
              </a:r>
              <a:r>
                <a:rPr lang="en-US" sz="2163" b="1" spc="-28">
                  <a:solidFill>
                    <a:srgbClr val="FFF6F3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T REVIEW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39098" y="1021515"/>
              <a:ext cx="1349996" cy="1247059"/>
            </a:xfrm>
            <a:custGeom>
              <a:avLst/>
              <a:gdLst/>
              <a:ahLst/>
              <a:cxnLst/>
              <a:rect l="l" t="t" r="r" b="b"/>
              <a:pathLst>
                <a:path w="1349996" h="1247059">
                  <a:moveTo>
                    <a:pt x="0" y="0"/>
                  </a:moveTo>
                  <a:lnTo>
                    <a:pt x="1349996" y="0"/>
                  </a:lnTo>
                  <a:lnTo>
                    <a:pt x="1349996" y="1247058"/>
                  </a:lnTo>
                  <a:lnTo>
                    <a:pt x="0" y="1247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9318" y="6175378"/>
            <a:ext cx="4778427" cy="2744790"/>
            <a:chOff x="0" y="0"/>
            <a:chExt cx="6371235" cy="3659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94248" cy="3380320"/>
            </a:xfrm>
            <a:custGeom>
              <a:avLst/>
              <a:gdLst/>
              <a:ahLst/>
              <a:cxnLst/>
              <a:rect l="l" t="t" r="r" b="b"/>
              <a:pathLst>
                <a:path w="5994248" h="3380320">
                  <a:moveTo>
                    <a:pt x="0" y="0"/>
                  </a:moveTo>
                  <a:lnTo>
                    <a:pt x="5994248" y="0"/>
                  </a:lnTo>
                  <a:lnTo>
                    <a:pt x="5994248" y="3380320"/>
                  </a:lnTo>
                  <a:lnTo>
                    <a:pt x="0" y="338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9000"/>
              </a:blip>
              <a:stretch>
                <a:fillRect r="-58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98035" y="256362"/>
              <a:ext cx="5673200" cy="3403358"/>
              <a:chOff x="0" y="0"/>
              <a:chExt cx="1294682" cy="77668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94682" cy="776681"/>
              </a:xfrm>
              <a:custGeom>
                <a:avLst/>
                <a:gdLst/>
                <a:ahLst/>
                <a:cxnLst/>
                <a:rect l="l" t="t" r="r" b="b"/>
                <a:pathLst>
                  <a:path w="1294682" h="776681">
                    <a:moveTo>
                      <a:pt x="92796" y="0"/>
                    </a:moveTo>
                    <a:lnTo>
                      <a:pt x="1201886" y="0"/>
                    </a:lnTo>
                    <a:cubicBezTo>
                      <a:pt x="1253136" y="0"/>
                      <a:pt x="1294682" y="41546"/>
                      <a:pt x="1294682" y="92796"/>
                    </a:cubicBezTo>
                    <a:lnTo>
                      <a:pt x="1294682" y="683885"/>
                    </a:lnTo>
                    <a:cubicBezTo>
                      <a:pt x="1294682" y="708496"/>
                      <a:pt x="1284906" y="732099"/>
                      <a:pt x="1267503" y="749502"/>
                    </a:cubicBezTo>
                    <a:cubicBezTo>
                      <a:pt x="1250100" y="766904"/>
                      <a:pt x="1226497" y="776681"/>
                      <a:pt x="1201886" y="776681"/>
                    </a:cubicBezTo>
                    <a:lnTo>
                      <a:pt x="92796" y="776681"/>
                    </a:lnTo>
                    <a:cubicBezTo>
                      <a:pt x="68185" y="776681"/>
                      <a:pt x="44582" y="766904"/>
                      <a:pt x="27179" y="749502"/>
                    </a:cubicBezTo>
                    <a:cubicBezTo>
                      <a:pt x="9777" y="732099"/>
                      <a:pt x="0" y="708496"/>
                      <a:pt x="0" y="683885"/>
                    </a:cubicBezTo>
                    <a:lnTo>
                      <a:pt x="0" y="92796"/>
                    </a:lnTo>
                    <a:cubicBezTo>
                      <a:pt x="0" y="68185"/>
                      <a:pt x="9777" y="44582"/>
                      <a:pt x="27179" y="27179"/>
                    </a:cubicBezTo>
                    <a:cubicBezTo>
                      <a:pt x="44582" y="9777"/>
                      <a:pt x="68185" y="0"/>
                      <a:pt x="92796" y="0"/>
                    </a:cubicBezTo>
                    <a:close/>
                  </a:path>
                </a:pathLst>
              </a:custGeom>
              <a:solidFill>
                <a:srgbClr val="1273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28575"/>
                <a:ext cx="1294682" cy="7481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0" y="1342790"/>
              <a:ext cx="1283582" cy="925783"/>
            </a:xfrm>
            <a:custGeom>
              <a:avLst/>
              <a:gdLst/>
              <a:ahLst/>
              <a:cxnLst/>
              <a:rect l="l" t="t" r="r" b="b"/>
              <a:pathLst>
                <a:path w="1283582" h="925783">
                  <a:moveTo>
                    <a:pt x="0" y="0"/>
                  </a:moveTo>
                  <a:lnTo>
                    <a:pt x="1283582" y="0"/>
                  </a:lnTo>
                  <a:lnTo>
                    <a:pt x="1283582" y="925783"/>
                  </a:lnTo>
                  <a:lnTo>
                    <a:pt x="0" y="925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27909" y="1314215"/>
              <a:ext cx="4617021" cy="2186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11126" lvl="1" indent="-205563" algn="l">
                <a:lnSpc>
                  <a:spcPts val="2665"/>
                </a:lnSpc>
                <a:buFont typeface="Arial"/>
                <a:buChar char="•"/>
              </a:pPr>
              <a:r>
                <a:rPr lang="en-US" sz="1904" spc="-112">
                  <a:solidFill>
                    <a:srgbClr val="FFF6F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Calculates and sets the shipping price</a:t>
              </a:r>
            </a:p>
            <a:p>
              <a:pPr marL="411126" lvl="1" indent="-205563" algn="l">
                <a:lnSpc>
                  <a:spcPts val="2665"/>
                </a:lnSpc>
                <a:buFont typeface="Arial"/>
                <a:buChar char="•"/>
              </a:pPr>
              <a:r>
                <a:rPr lang="en-US" sz="1904" spc="-112">
                  <a:solidFill>
                    <a:srgbClr val="FFF6F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Price is generated based on shipping method (air or sea) and shipment data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4386" y="608186"/>
              <a:ext cx="3843044" cy="466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9"/>
                </a:lnSpc>
              </a:pPr>
              <a:r>
                <a:rPr lang="en-US" sz="2399" spc="-31">
                  <a:solidFill>
                    <a:srgbClr val="FFF6F3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P</a:t>
              </a:r>
              <a:r>
                <a:rPr lang="en-US" sz="2399" b="1" spc="-31">
                  <a:solidFill>
                    <a:srgbClr val="FFF6F3"/>
                  </a:solidFill>
                  <a:latin typeface="Hussar Bold"/>
                  <a:ea typeface="Hussar Bold"/>
                  <a:cs typeface="Hussar Bold"/>
                  <a:sym typeface="Hussar Bold"/>
                </a:rPr>
                <a:t>RICING SETUP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19" name="Freeform 19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9411180" y="2646259"/>
            <a:ext cx="7848120" cy="6612041"/>
          </a:xfrm>
          <a:custGeom>
            <a:avLst/>
            <a:gdLst/>
            <a:ahLst/>
            <a:cxnLst/>
            <a:rect l="l" t="t" r="r" b="b"/>
            <a:pathLst>
              <a:path w="7848120" h="6612041">
                <a:moveTo>
                  <a:pt x="0" y="0"/>
                </a:moveTo>
                <a:lnTo>
                  <a:pt x="7848120" y="0"/>
                </a:lnTo>
                <a:lnTo>
                  <a:pt x="7848120" y="6612041"/>
                </a:lnTo>
                <a:lnTo>
                  <a:pt x="0" y="6612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523609" y="7945482"/>
            <a:ext cx="1089639" cy="1312818"/>
          </a:xfrm>
          <a:custGeom>
            <a:avLst/>
            <a:gdLst/>
            <a:ahLst/>
            <a:cxnLst/>
            <a:rect l="l" t="t" r="r" b="b"/>
            <a:pathLst>
              <a:path w="1089639" h="1312818">
                <a:moveTo>
                  <a:pt x="0" y="0"/>
                </a:moveTo>
                <a:lnTo>
                  <a:pt x="1089639" y="0"/>
                </a:lnTo>
                <a:lnTo>
                  <a:pt x="1089639" y="1312818"/>
                </a:lnTo>
                <a:lnTo>
                  <a:pt x="0" y="13128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3697758" y="7547773"/>
            <a:ext cx="638169" cy="670874"/>
          </a:xfrm>
          <a:custGeom>
            <a:avLst/>
            <a:gdLst/>
            <a:ahLst/>
            <a:cxnLst/>
            <a:rect l="l" t="t" r="r" b="b"/>
            <a:pathLst>
              <a:path w="638169" h="670874">
                <a:moveTo>
                  <a:pt x="0" y="0"/>
                </a:moveTo>
                <a:lnTo>
                  <a:pt x="638169" y="0"/>
                </a:lnTo>
                <a:lnTo>
                  <a:pt x="638169" y="670874"/>
                </a:lnTo>
                <a:lnTo>
                  <a:pt x="0" y="6708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85944" y="1984113"/>
            <a:ext cx="11413964" cy="87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093" spc="-79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P</a:t>
            </a:r>
            <a:r>
              <a:rPr lang="en-US" sz="6093" b="1" spc="-79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RICING RESPONSIBLE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861766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66254" y="9258300"/>
            <a:ext cx="2164943" cy="216494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971295" y="8390927"/>
            <a:ext cx="867373" cy="8673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9" name="Freeform 9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095375"/>
            <a:ext cx="4881834" cy="203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09"/>
              </a:lnSpc>
            </a:pPr>
            <a:r>
              <a:rPr lang="en-US" sz="5105" spc="-6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P</a:t>
            </a:r>
            <a:r>
              <a:rPr lang="en-US" sz="5105" b="1" spc="-6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RICING RESPONSIBLE</a:t>
            </a:r>
          </a:p>
          <a:p>
            <a:pPr algn="just">
              <a:lnSpc>
                <a:spcPts val="5309"/>
              </a:lnSpc>
            </a:pPr>
            <a:r>
              <a:rPr lang="en-US" sz="5105" b="1" spc="-66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VIEW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89885" y="8972291"/>
            <a:ext cx="2423647" cy="242364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09055" y="-1648844"/>
            <a:ext cx="3123043" cy="312304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5499" y="2456374"/>
            <a:ext cx="13511382" cy="8956574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>
            <a:off x="12313533" y="4252534"/>
            <a:ext cx="5669379" cy="4719758"/>
          </a:xfrm>
          <a:custGeom>
            <a:avLst/>
            <a:gdLst/>
            <a:ahLst/>
            <a:cxnLst/>
            <a:rect l="l" t="t" r="r" b="b"/>
            <a:pathLst>
              <a:path w="5669379" h="4719758">
                <a:moveTo>
                  <a:pt x="0" y="0"/>
                </a:moveTo>
                <a:lnTo>
                  <a:pt x="5669378" y="0"/>
                </a:lnTo>
                <a:lnTo>
                  <a:pt x="5669378" y="4719757"/>
                </a:lnTo>
                <a:lnTo>
                  <a:pt x="0" y="4719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220631" y="3008763"/>
            <a:ext cx="2134737" cy="213473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1659935" y="6934661"/>
            <a:ext cx="1585685" cy="1538114"/>
          </a:xfrm>
          <a:custGeom>
            <a:avLst/>
            <a:gdLst/>
            <a:ahLst/>
            <a:cxnLst/>
            <a:rect l="l" t="t" r="r" b="b"/>
            <a:pathLst>
              <a:path w="1585685" h="1538114">
                <a:moveTo>
                  <a:pt x="0" y="0"/>
                </a:moveTo>
                <a:lnTo>
                  <a:pt x="1585684" y="0"/>
                </a:lnTo>
                <a:lnTo>
                  <a:pt x="1585684" y="1538115"/>
                </a:lnTo>
                <a:lnTo>
                  <a:pt x="0" y="1538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28" name="Freeform 28"/>
          <p:cNvSpPr/>
          <p:nvPr/>
        </p:nvSpPr>
        <p:spPr>
          <a:xfrm>
            <a:off x="13404551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71295" y="8390927"/>
            <a:ext cx="867373" cy="8673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5914" y="3950583"/>
            <a:ext cx="3663517" cy="931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1781" spc="-105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View and review user-submitted issues.</a:t>
            </a:r>
          </a:p>
          <a:p>
            <a:pPr algn="l">
              <a:lnSpc>
                <a:spcPts val="2493"/>
              </a:lnSpc>
            </a:pPr>
            <a:endParaRPr lang="en-US" sz="1781" spc="-105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3"/>
              </a:lnSpc>
            </a:pPr>
            <a:endParaRPr lang="en-US" sz="1781" spc="-105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07393" y="3258607"/>
            <a:ext cx="5169821" cy="2425508"/>
          </a:xfrm>
          <a:custGeom>
            <a:avLst/>
            <a:gdLst/>
            <a:ahLst/>
            <a:cxnLst/>
            <a:rect l="l" t="t" r="r" b="b"/>
            <a:pathLst>
              <a:path w="5169821" h="2425508">
                <a:moveTo>
                  <a:pt x="0" y="0"/>
                </a:moveTo>
                <a:lnTo>
                  <a:pt x="5169821" y="0"/>
                </a:lnTo>
                <a:lnTo>
                  <a:pt x="5169821" y="2425507"/>
                </a:lnTo>
                <a:lnTo>
                  <a:pt x="0" y="2425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85459" y="3150594"/>
            <a:ext cx="4613690" cy="2173578"/>
            <a:chOff x="0" y="0"/>
            <a:chExt cx="1862775" cy="8775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2775" cy="877581"/>
            </a:xfrm>
            <a:custGeom>
              <a:avLst/>
              <a:gdLst/>
              <a:ahLst/>
              <a:cxnLst/>
              <a:rect l="l" t="t" r="r" b="b"/>
              <a:pathLst>
                <a:path w="1862775" h="877581">
                  <a:moveTo>
                    <a:pt x="85580" y="0"/>
                  </a:moveTo>
                  <a:lnTo>
                    <a:pt x="1777196" y="0"/>
                  </a:lnTo>
                  <a:cubicBezTo>
                    <a:pt x="1824460" y="0"/>
                    <a:pt x="1862775" y="38315"/>
                    <a:pt x="1862775" y="85580"/>
                  </a:cubicBezTo>
                  <a:lnTo>
                    <a:pt x="1862775" y="792002"/>
                  </a:lnTo>
                  <a:cubicBezTo>
                    <a:pt x="1862775" y="839266"/>
                    <a:pt x="1824460" y="877581"/>
                    <a:pt x="1777196" y="877581"/>
                  </a:cubicBezTo>
                  <a:lnTo>
                    <a:pt x="85580" y="877581"/>
                  </a:lnTo>
                  <a:cubicBezTo>
                    <a:pt x="38315" y="877581"/>
                    <a:pt x="0" y="839266"/>
                    <a:pt x="0" y="792002"/>
                  </a:cubicBezTo>
                  <a:lnTo>
                    <a:pt x="0" y="85580"/>
                  </a:lnTo>
                  <a:cubicBezTo>
                    <a:pt x="0" y="38315"/>
                    <a:pt x="38315" y="0"/>
                    <a:pt x="8558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862775" cy="839481"/>
            </a:xfrm>
            <a:prstGeom prst="rect">
              <a:avLst/>
            </a:prstGeom>
          </p:spPr>
          <p:txBody>
            <a:bodyPr lIns="41133" tIns="41133" rIns="41133" bIns="41133" rtlCol="0" anchor="ctr"/>
            <a:lstStyle/>
            <a:p>
              <a:pPr algn="ctr">
                <a:lnSpc>
                  <a:spcPts val="286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72092" y="3419209"/>
            <a:ext cx="426735" cy="419267"/>
          </a:xfrm>
          <a:custGeom>
            <a:avLst/>
            <a:gdLst/>
            <a:ahLst/>
            <a:cxnLst/>
            <a:rect l="l" t="t" r="r" b="b"/>
            <a:pathLst>
              <a:path w="426735" h="419267">
                <a:moveTo>
                  <a:pt x="0" y="0"/>
                </a:moveTo>
                <a:lnTo>
                  <a:pt x="426734" y="0"/>
                </a:lnTo>
                <a:lnTo>
                  <a:pt x="426734" y="419267"/>
                </a:lnTo>
                <a:lnTo>
                  <a:pt x="0" y="419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661215" y="5249840"/>
            <a:ext cx="5089791" cy="2387961"/>
          </a:xfrm>
          <a:custGeom>
            <a:avLst/>
            <a:gdLst/>
            <a:ahLst/>
            <a:cxnLst/>
            <a:rect l="l" t="t" r="r" b="b"/>
            <a:pathLst>
              <a:path w="5089791" h="2387961">
                <a:moveTo>
                  <a:pt x="0" y="0"/>
                </a:moveTo>
                <a:lnTo>
                  <a:pt x="5089792" y="0"/>
                </a:lnTo>
                <a:lnTo>
                  <a:pt x="5089792" y="2387961"/>
                </a:lnTo>
                <a:lnTo>
                  <a:pt x="0" y="238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4934976" y="5143500"/>
            <a:ext cx="4542269" cy="2035139"/>
            <a:chOff x="0" y="0"/>
            <a:chExt cx="1862775" cy="834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62775" cy="834607"/>
            </a:xfrm>
            <a:custGeom>
              <a:avLst/>
              <a:gdLst/>
              <a:ahLst/>
              <a:cxnLst/>
              <a:rect l="l" t="t" r="r" b="b"/>
              <a:pathLst>
                <a:path w="1862775" h="834607">
                  <a:moveTo>
                    <a:pt x="86925" y="0"/>
                  </a:moveTo>
                  <a:lnTo>
                    <a:pt x="1775850" y="0"/>
                  </a:lnTo>
                  <a:cubicBezTo>
                    <a:pt x="1798904" y="0"/>
                    <a:pt x="1821014" y="9158"/>
                    <a:pt x="1837315" y="25460"/>
                  </a:cubicBezTo>
                  <a:cubicBezTo>
                    <a:pt x="1853617" y="41761"/>
                    <a:pt x="1862775" y="63871"/>
                    <a:pt x="1862775" y="86925"/>
                  </a:cubicBezTo>
                  <a:lnTo>
                    <a:pt x="1862775" y="747681"/>
                  </a:lnTo>
                  <a:cubicBezTo>
                    <a:pt x="1862775" y="770735"/>
                    <a:pt x="1853617" y="792845"/>
                    <a:pt x="1837315" y="809147"/>
                  </a:cubicBezTo>
                  <a:cubicBezTo>
                    <a:pt x="1821014" y="825448"/>
                    <a:pt x="1798904" y="834607"/>
                    <a:pt x="1775850" y="834607"/>
                  </a:cubicBezTo>
                  <a:lnTo>
                    <a:pt x="86925" y="834607"/>
                  </a:lnTo>
                  <a:cubicBezTo>
                    <a:pt x="63871" y="834607"/>
                    <a:pt x="41761" y="825448"/>
                    <a:pt x="25460" y="809147"/>
                  </a:cubicBezTo>
                  <a:cubicBezTo>
                    <a:pt x="9158" y="792845"/>
                    <a:pt x="0" y="770735"/>
                    <a:pt x="0" y="747681"/>
                  </a:cubicBezTo>
                  <a:lnTo>
                    <a:pt x="0" y="86925"/>
                  </a:lnTo>
                  <a:cubicBezTo>
                    <a:pt x="0" y="63871"/>
                    <a:pt x="9158" y="41761"/>
                    <a:pt x="25460" y="25460"/>
                  </a:cubicBezTo>
                  <a:cubicBezTo>
                    <a:pt x="41761" y="9158"/>
                    <a:pt x="63871" y="0"/>
                    <a:pt x="86925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862775" cy="806031"/>
            </a:xfrm>
            <a:prstGeom prst="rect">
              <a:avLst/>
            </a:prstGeom>
          </p:spPr>
          <p:txBody>
            <a:bodyPr lIns="40497" tIns="40497" rIns="40497" bIns="40497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724912" y="5407957"/>
            <a:ext cx="420129" cy="412776"/>
          </a:xfrm>
          <a:custGeom>
            <a:avLst/>
            <a:gdLst/>
            <a:ahLst/>
            <a:cxnLst/>
            <a:rect l="l" t="t" r="r" b="b"/>
            <a:pathLst>
              <a:path w="420129" h="412776">
                <a:moveTo>
                  <a:pt x="0" y="0"/>
                </a:moveTo>
                <a:lnTo>
                  <a:pt x="420129" y="0"/>
                </a:lnTo>
                <a:lnTo>
                  <a:pt x="420129" y="412776"/>
                </a:lnTo>
                <a:lnTo>
                  <a:pt x="0" y="412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07393" y="7269981"/>
            <a:ext cx="5169821" cy="2425508"/>
          </a:xfrm>
          <a:custGeom>
            <a:avLst/>
            <a:gdLst/>
            <a:ahLst/>
            <a:cxnLst/>
            <a:rect l="l" t="t" r="r" b="b"/>
            <a:pathLst>
              <a:path w="5169821" h="2425508">
                <a:moveTo>
                  <a:pt x="0" y="0"/>
                </a:moveTo>
                <a:lnTo>
                  <a:pt x="5169821" y="0"/>
                </a:lnTo>
                <a:lnTo>
                  <a:pt x="5169821" y="2425507"/>
                </a:lnTo>
                <a:lnTo>
                  <a:pt x="0" y="2425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585459" y="7161968"/>
            <a:ext cx="4613690" cy="2067139"/>
            <a:chOff x="0" y="0"/>
            <a:chExt cx="1862775" cy="8346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62775" cy="834607"/>
            </a:xfrm>
            <a:custGeom>
              <a:avLst/>
              <a:gdLst/>
              <a:ahLst/>
              <a:cxnLst/>
              <a:rect l="l" t="t" r="r" b="b"/>
              <a:pathLst>
                <a:path w="1862775" h="834607">
                  <a:moveTo>
                    <a:pt x="85580" y="0"/>
                  </a:moveTo>
                  <a:lnTo>
                    <a:pt x="1777196" y="0"/>
                  </a:lnTo>
                  <a:cubicBezTo>
                    <a:pt x="1824460" y="0"/>
                    <a:pt x="1862775" y="38315"/>
                    <a:pt x="1862775" y="85580"/>
                  </a:cubicBezTo>
                  <a:lnTo>
                    <a:pt x="1862775" y="749027"/>
                  </a:lnTo>
                  <a:cubicBezTo>
                    <a:pt x="1862775" y="796291"/>
                    <a:pt x="1824460" y="834607"/>
                    <a:pt x="1777196" y="834607"/>
                  </a:cubicBezTo>
                  <a:lnTo>
                    <a:pt x="85580" y="834607"/>
                  </a:lnTo>
                  <a:cubicBezTo>
                    <a:pt x="38315" y="834607"/>
                    <a:pt x="0" y="796291"/>
                    <a:pt x="0" y="749027"/>
                  </a:cubicBezTo>
                  <a:lnTo>
                    <a:pt x="0" y="85580"/>
                  </a:lnTo>
                  <a:cubicBezTo>
                    <a:pt x="0" y="38315"/>
                    <a:pt x="38315" y="0"/>
                    <a:pt x="8558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862775" cy="806031"/>
            </a:xfrm>
            <a:prstGeom prst="rect">
              <a:avLst/>
            </a:prstGeom>
          </p:spPr>
          <p:txBody>
            <a:bodyPr lIns="41133" tIns="41133" rIns="41133" bIns="41133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72092" y="7430583"/>
            <a:ext cx="426735" cy="419267"/>
          </a:xfrm>
          <a:custGeom>
            <a:avLst/>
            <a:gdLst/>
            <a:ahLst/>
            <a:cxnLst/>
            <a:rect l="l" t="t" r="r" b="b"/>
            <a:pathLst>
              <a:path w="426735" h="419267">
                <a:moveTo>
                  <a:pt x="0" y="0"/>
                </a:moveTo>
                <a:lnTo>
                  <a:pt x="426734" y="0"/>
                </a:lnTo>
                <a:lnTo>
                  <a:pt x="426734" y="419267"/>
                </a:lnTo>
                <a:lnTo>
                  <a:pt x="0" y="419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291287" y="1271112"/>
            <a:ext cx="7315200" cy="1563624"/>
          </a:xfrm>
          <a:custGeom>
            <a:avLst/>
            <a:gdLst/>
            <a:ahLst/>
            <a:cxnLst/>
            <a:rect l="l" t="t" r="r" b="b"/>
            <a:pathLst>
              <a:path w="7315200" h="1563624">
                <a:moveTo>
                  <a:pt x="0" y="0"/>
                </a:moveTo>
                <a:lnTo>
                  <a:pt x="7315200" y="0"/>
                </a:lnTo>
                <a:lnTo>
                  <a:pt x="7315200" y="1563624"/>
                </a:lnTo>
                <a:lnTo>
                  <a:pt x="0" y="1563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23" name="Freeform 23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9731705" y="1271112"/>
            <a:ext cx="8556295" cy="8229600"/>
          </a:xfrm>
          <a:custGeom>
            <a:avLst/>
            <a:gdLst/>
            <a:ahLst/>
            <a:cxnLst/>
            <a:rect l="l" t="t" r="r" b="b"/>
            <a:pathLst>
              <a:path w="8556295" h="8229600">
                <a:moveTo>
                  <a:pt x="0" y="0"/>
                </a:moveTo>
                <a:lnTo>
                  <a:pt x="8556295" y="0"/>
                </a:lnTo>
                <a:lnTo>
                  <a:pt x="8556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75914" y="3447784"/>
            <a:ext cx="2147199" cy="54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2003" spc="-26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REQUES</a:t>
            </a:r>
            <a:r>
              <a:rPr lang="en-US" sz="2003" b="1" spc="-26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T ASSIGNMENT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77214" y="6122970"/>
            <a:ext cx="3606805" cy="29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644" lvl="1" indent="-189322" algn="l">
              <a:lnSpc>
                <a:spcPts val="2455"/>
              </a:lnSpc>
              <a:buFont typeface="Arial"/>
              <a:buChar char="•"/>
            </a:pPr>
            <a:r>
              <a:rPr lang="en-US" sz="1753" spc="-103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Sets the shipping start time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17839" y="5436532"/>
            <a:ext cx="2905717" cy="54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2004" b="1" spc="-26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LOGISTICS SCHEDULING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1459" y="7870022"/>
            <a:ext cx="3663517" cy="186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1781" spc="-10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Updates transportation details</a:t>
            </a:r>
          </a:p>
          <a:p>
            <a:pPr marL="384598" lvl="1" indent="-192299" algn="l">
              <a:lnSpc>
                <a:spcPts val="2493"/>
              </a:lnSpc>
              <a:buFont typeface="Arial"/>
              <a:buChar char="•"/>
            </a:pPr>
            <a:r>
              <a:rPr lang="en-US" sz="1781" spc="-10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Air: Flight number</a:t>
            </a:r>
          </a:p>
          <a:p>
            <a:pPr marL="384598" lvl="1" indent="-192299" algn="l">
              <a:lnSpc>
                <a:spcPts val="2493"/>
              </a:lnSpc>
              <a:buFont typeface="Arial"/>
              <a:buChar char="•"/>
            </a:pPr>
            <a:r>
              <a:rPr lang="en-US" sz="1781" spc="-10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Sea: Vessel name</a:t>
            </a:r>
          </a:p>
          <a:p>
            <a:pPr marL="384598" lvl="1" indent="-192299" algn="l">
              <a:lnSpc>
                <a:spcPts val="2493"/>
              </a:lnSpc>
              <a:buFont typeface="Arial"/>
              <a:buChar char="•"/>
            </a:pPr>
            <a:r>
              <a:rPr lang="en-US" sz="1781" spc="-10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Land: Truck number</a:t>
            </a:r>
          </a:p>
          <a:p>
            <a:pPr algn="l">
              <a:lnSpc>
                <a:spcPts val="2493"/>
              </a:lnSpc>
            </a:pPr>
            <a:endParaRPr lang="en-US" sz="1781" spc="-105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2493"/>
              </a:lnSpc>
            </a:pPr>
            <a:endParaRPr lang="en-US" sz="1781" spc="-105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75914" y="7526565"/>
            <a:ext cx="2872974" cy="283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2035" spc="-26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SHIPP</a:t>
            </a:r>
            <a:r>
              <a:rPr lang="en-US" sz="2035" b="1" spc="-26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ING DETAILS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1287" y="1507628"/>
            <a:ext cx="8953474" cy="888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13"/>
              </a:lnSpc>
            </a:pPr>
            <a:r>
              <a:rPr lang="en-US" sz="6600" b="1" spc="-66" dirty="0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LOGISTICS</a:t>
            </a:r>
            <a:endParaRPr lang="en-US" sz="6012" b="1" spc="-78" dirty="0">
              <a:solidFill>
                <a:srgbClr val="000000"/>
              </a:solidFill>
              <a:latin typeface="Hussar Bold"/>
              <a:ea typeface="Hussar Bold"/>
              <a:cs typeface="Hussar Bold"/>
              <a:sym typeface="Hussar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3941058"/>
            <a:ext cx="3606805" cy="151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644" lvl="1" indent="-189322" algn="l">
              <a:lnSpc>
                <a:spcPts val="2455"/>
              </a:lnSpc>
              <a:buFont typeface="Arial"/>
              <a:buChar char="•"/>
            </a:pPr>
            <a:r>
              <a:rPr lang="en-US" sz="1753" spc="-103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Receives approved shipping requests</a:t>
            </a:r>
          </a:p>
          <a:p>
            <a:pPr marL="378644" lvl="1" indent="-189322" algn="l">
              <a:lnSpc>
                <a:spcPts val="2455"/>
              </a:lnSpc>
              <a:buFont typeface="Arial"/>
              <a:buChar char="•"/>
            </a:pPr>
            <a:r>
              <a:rPr lang="en-US" sz="1753" spc="-103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Responsible for handling the shipment</a:t>
            </a:r>
          </a:p>
          <a:p>
            <a:pPr algn="l">
              <a:lnSpc>
                <a:spcPts val="2455"/>
              </a:lnSpc>
            </a:pPr>
            <a:endParaRPr lang="en-US" sz="1753" spc="-103">
              <a:solidFill>
                <a:srgbClr val="FFFFFF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4452784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1" y="0"/>
                </a:lnTo>
                <a:lnTo>
                  <a:pt x="1104621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seller"/>
          <p:cNvSpPr/>
          <p:nvPr/>
        </p:nvSpPr>
        <p:spPr>
          <a:xfrm>
            <a:off x="8037079" y="6628876"/>
            <a:ext cx="1797569" cy="1593096"/>
          </a:xfrm>
          <a:custGeom>
            <a:avLst/>
            <a:gdLst/>
            <a:ahLst/>
            <a:cxnLst/>
            <a:rect l="l" t="t" r="r" b="b"/>
            <a:pathLst>
              <a:path w="1797569" h="1593096">
                <a:moveTo>
                  <a:pt x="0" y="0"/>
                </a:moveTo>
                <a:lnTo>
                  <a:pt x="1797569" y="0"/>
                </a:lnTo>
                <a:lnTo>
                  <a:pt x="1797569" y="1593096"/>
                </a:lnTo>
                <a:lnTo>
                  <a:pt x="0" y="159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4792" y="2456374"/>
            <a:ext cx="13511382" cy="895657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4167279" y="594734"/>
            <a:ext cx="1675631" cy="513509"/>
            <a:chOff x="0" y="0"/>
            <a:chExt cx="1989184" cy="609600"/>
          </a:xfrm>
        </p:grpSpPr>
        <p:sp>
          <p:nvSpPr>
            <p:cNvPr id="5" name="Freeform 5"/>
            <p:cNvSpPr/>
            <p:nvPr/>
          </p:nvSpPr>
          <p:spPr>
            <a:xfrm>
              <a:off x="18062" y="0"/>
              <a:ext cx="1953060" cy="609600"/>
            </a:xfrm>
            <a:custGeom>
              <a:avLst/>
              <a:gdLst/>
              <a:ahLst/>
              <a:cxnLst/>
              <a:rect l="l" t="t" r="r" b="b"/>
              <a:pathLst>
                <a:path w="1953060" h="609600">
                  <a:moveTo>
                    <a:pt x="249822" y="0"/>
                  </a:moveTo>
                  <a:lnTo>
                    <a:pt x="1906438" y="0"/>
                  </a:lnTo>
                  <a:cubicBezTo>
                    <a:pt x="1921424" y="0"/>
                    <a:pt x="1935497" y="7204"/>
                    <a:pt x="1944260" y="19362"/>
                  </a:cubicBezTo>
                  <a:cubicBezTo>
                    <a:pt x="1953022" y="31519"/>
                    <a:pt x="1955406" y="47148"/>
                    <a:pt x="1950667" y="61365"/>
                  </a:cubicBezTo>
                  <a:lnTo>
                    <a:pt x="1788377" y="548235"/>
                  </a:lnTo>
                  <a:cubicBezTo>
                    <a:pt x="1776162" y="584882"/>
                    <a:pt x="1741867" y="609600"/>
                    <a:pt x="1703238" y="609600"/>
                  </a:cubicBezTo>
                  <a:lnTo>
                    <a:pt x="46622" y="609600"/>
                  </a:lnTo>
                  <a:cubicBezTo>
                    <a:pt x="31636" y="609600"/>
                    <a:pt x="17563" y="602396"/>
                    <a:pt x="8801" y="590238"/>
                  </a:cubicBezTo>
                  <a:cubicBezTo>
                    <a:pt x="38" y="578081"/>
                    <a:pt x="-2346" y="562452"/>
                    <a:pt x="2393" y="548235"/>
                  </a:cubicBezTo>
                  <a:lnTo>
                    <a:pt x="164683" y="61365"/>
                  </a:lnTo>
                  <a:cubicBezTo>
                    <a:pt x="176899" y="24718"/>
                    <a:pt x="211193" y="0"/>
                    <a:pt x="249822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49876" y="581638"/>
            <a:ext cx="894124" cy="8941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81942" y="9105372"/>
            <a:ext cx="2134737" cy="21347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781345" y="2731181"/>
            <a:ext cx="2412319" cy="241231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041902" y="1265963"/>
            <a:ext cx="9410146" cy="8229600"/>
          </a:xfrm>
          <a:custGeom>
            <a:avLst/>
            <a:gdLst/>
            <a:ahLst/>
            <a:cxnLst/>
            <a:rect l="l" t="t" r="r" b="b"/>
            <a:pathLst>
              <a:path w="9410146" h="8229600">
                <a:moveTo>
                  <a:pt x="0" y="0"/>
                </a:moveTo>
                <a:lnTo>
                  <a:pt x="9410146" y="0"/>
                </a:lnTo>
                <a:lnTo>
                  <a:pt x="941014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1095375"/>
            <a:ext cx="4881834" cy="137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09"/>
              </a:lnSpc>
            </a:pPr>
            <a:r>
              <a:rPr lang="en-US" sz="5105" b="1" spc="-66" dirty="0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LOGISTICS 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5854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979354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61829" y="0"/>
            <a:ext cx="3726171" cy="10287000"/>
            <a:chOff x="0" y="0"/>
            <a:chExt cx="98137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78" cy="2709333"/>
            </a:xfrm>
            <a:custGeom>
              <a:avLst/>
              <a:gdLst/>
              <a:ahLst/>
              <a:cxnLst/>
              <a:rect l="l" t="t" r="r" b="b"/>
              <a:pathLst>
                <a:path w="981378" h="2709333">
                  <a:moveTo>
                    <a:pt x="0" y="0"/>
                  </a:moveTo>
                  <a:lnTo>
                    <a:pt x="981378" y="0"/>
                  </a:lnTo>
                  <a:lnTo>
                    <a:pt x="9813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273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981378" cy="2680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450155"/>
            <a:ext cx="16230600" cy="7386690"/>
            <a:chOff x="0" y="0"/>
            <a:chExt cx="3820554" cy="17387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20554" cy="1738768"/>
            </a:xfrm>
            <a:custGeom>
              <a:avLst/>
              <a:gdLst/>
              <a:ahLst/>
              <a:cxnLst/>
              <a:rect l="l" t="t" r="r" b="b"/>
              <a:pathLst>
                <a:path w="3820554" h="1738768">
                  <a:moveTo>
                    <a:pt x="44361" y="0"/>
                  </a:moveTo>
                  <a:lnTo>
                    <a:pt x="3776193" y="0"/>
                  </a:lnTo>
                  <a:cubicBezTo>
                    <a:pt x="3800693" y="0"/>
                    <a:pt x="3820554" y="19861"/>
                    <a:pt x="3820554" y="44361"/>
                  </a:cubicBezTo>
                  <a:lnTo>
                    <a:pt x="3820554" y="1694407"/>
                  </a:lnTo>
                  <a:cubicBezTo>
                    <a:pt x="3820554" y="1718907"/>
                    <a:pt x="3800693" y="1738768"/>
                    <a:pt x="3776193" y="1738768"/>
                  </a:cubicBezTo>
                  <a:lnTo>
                    <a:pt x="44361" y="1738768"/>
                  </a:lnTo>
                  <a:cubicBezTo>
                    <a:pt x="19861" y="1738768"/>
                    <a:pt x="0" y="1718907"/>
                    <a:pt x="0" y="1694407"/>
                  </a:cubicBezTo>
                  <a:lnTo>
                    <a:pt x="0" y="44361"/>
                  </a:lnTo>
                  <a:cubicBezTo>
                    <a:pt x="0" y="19861"/>
                    <a:pt x="19861" y="0"/>
                    <a:pt x="44361" y="0"/>
                  </a:cubicBezTo>
                  <a:close/>
                </a:path>
              </a:pathLst>
            </a:custGeom>
            <a:solidFill>
              <a:srgbClr val="FFFFFF"/>
            </a:solidFill>
            <a:ln w="219075" cap="rnd">
              <a:solidFill>
                <a:srgbClr val="8DDC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3820554" cy="1710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3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73715" y="9533663"/>
            <a:ext cx="1104620" cy="693149"/>
          </a:xfrm>
          <a:custGeom>
            <a:avLst/>
            <a:gdLst/>
            <a:ahLst/>
            <a:cxnLst/>
            <a:rect l="l" t="t" r="r" b="b"/>
            <a:pathLst>
              <a:path w="1104620" h="693149">
                <a:moveTo>
                  <a:pt x="0" y="0"/>
                </a:moveTo>
                <a:lnTo>
                  <a:pt x="1104620" y="0"/>
                </a:lnTo>
                <a:lnTo>
                  <a:pt x="1104620" y="693149"/>
                </a:lnTo>
                <a:lnTo>
                  <a:pt x="0" y="69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630102" y="538493"/>
            <a:ext cx="1879323" cy="575932"/>
            <a:chOff x="0" y="0"/>
            <a:chExt cx="1989184" cy="609600"/>
          </a:xfrm>
        </p:grpSpPr>
        <p:sp>
          <p:nvSpPr>
            <p:cNvPr id="10" name="Freeform 10"/>
            <p:cNvSpPr/>
            <p:nvPr/>
          </p:nvSpPr>
          <p:spPr>
            <a:xfrm>
              <a:off x="16104" y="0"/>
              <a:ext cx="1956975" cy="609600"/>
            </a:xfrm>
            <a:custGeom>
              <a:avLst/>
              <a:gdLst/>
              <a:ahLst/>
              <a:cxnLst/>
              <a:rect l="l" t="t" r="r" b="b"/>
              <a:pathLst>
                <a:path w="1956975" h="609600">
                  <a:moveTo>
                    <a:pt x="244769" y="0"/>
                  </a:moveTo>
                  <a:lnTo>
                    <a:pt x="1915407" y="0"/>
                  </a:lnTo>
                  <a:cubicBezTo>
                    <a:pt x="1928769" y="0"/>
                    <a:pt x="1941316" y="6423"/>
                    <a:pt x="1949129" y="17263"/>
                  </a:cubicBezTo>
                  <a:cubicBezTo>
                    <a:pt x="1956942" y="28103"/>
                    <a:pt x="1959068" y="42037"/>
                    <a:pt x="1954843" y="54714"/>
                  </a:cubicBezTo>
                  <a:lnTo>
                    <a:pt x="1788118" y="554886"/>
                  </a:lnTo>
                  <a:cubicBezTo>
                    <a:pt x="1777227" y="587561"/>
                    <a:pt x="1746649" y="609600"/>
                    <a:pt x="1712207" y="609600"/>
                  </a:cubicBezTo>
                  <a:lnTo>
                    <a:pt x="41569" y="609600"/>
                  </a:lnTo>
                  <a:cubicBezTo>
                    <a:pt x="28207" y="609600"/>
                    <a:pt x="15660" y="603177"/>
                    <a:pt x="7847" y="592337"/>
                  </a:cubicBezTo>
                  <a:cubicBezTo>
                    <a:pt x="34" y="581497"/>
                    <a:pt x="-2092" y="567562"/>
                    <a:pt x="2134" y="554886"/>
                  </a:cubicBezTo>
                  <a:lnTo>
                    <a:pt x="168858" y="54714"/>
                  </a:lnTo>
                  <a:cubicBezTo>
                    <a:pt x="179750" y="22039"/>
                    <a:pt x="210327" y="0"/>
                    <a:pt x="244769" y="0"/>
                  </a:cubicBezTo>
                  <a:close/>
                </a:path>
              </a:pathLst>
            </a:custGeom>
            <a:solidFill>
              <a:srgbClr val="12733C"/>
            </a:solidFill>
            <a:ln w="38100" cap="sq">
              <a:solidFill>
                <a:srgbClr val="03192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9525"/>
              <a:ext cx="1785984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019324" y="1230558"/>
            <a:ext cx="7825885" cy="7825885"/>
          </a:xfrm>
          <a:custGeom>
            <a:avLst/>
            <a:gdLst/>
            <a:ahLst/>
            <a:cxnLst/>
            <a:rect l="l" t="t" r="r" b="b"/>
            <a:pathLst>
              <a:path w="7825885" h="7825885">
                <a:moveTo>
                  <a:pt x="0" y="0"/>
                </a:moveTo>
                <a:lnTo>
                  <a:pt x="7825885" y="0"/>
                </a:lnTo>
                <a:lnTo>
                  <a:pt x="7825885" y="7825884"/>
                </a:lnTo>
                <a:lnTo>
                  <a:pt x="0" y="7825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hlinkClick r:id="rId5" tooltip="https://dev215416.service-now.com/shipping_app?id=shipping_landing"/>
          </p:cNvPr>
          <p:cNvSpPr/>
          <p:nvPr/>
        </p:nvSpPr>
        <p:spPr>
          <a:xfrm>
            <a:off x="2679634" y="5810154"/>
            <a:ext cx="2782081" cy="758749"/>
          </a:xfrm>
          <a:custGeom>
            <a:avLst/>
            <a:gdLst/>
            <a:ahLst/>
            <a:cxnLst/>
            <a:rect l="l" t="t" r="r" b="b"/>
            <a:pathLst>
              <a:path w="2782081" h="758749">
                <a:moveTo>
                  <a:pt x="0" y="0"/>
                </a:moveTo>
                <a:lnTo>
                  <a:pt x="2782081" y="0"/>
                </a:lnTo>
                <a:lnTo>
                  <a:pt x="2782081" y="758749"/>
                </a:lnTo>
                <a:lnTo>
                  <a:pt x="0" y="758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974088" y="2708251"/>
            <a:ext cx="7360509" cy="117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751"/>
              </a:lnSpc>
            </a:pPr>
            <a:r>
              <a:rPr lang="en-US" sz="8414" b="1" spc="-109" dirty="0">
                <a:latin typeface="Hussar Bold"/>
                <a:ea typeface="Hussar Bold"/>
                <a:cs typeface="Hussar Bold"/>
                <a:sym typeface="Hussar Bold"/>
                <a:hlinkClick r:id="rId8" tooltip="https://github.com/zeyadgebril/ServiceNow---Shipping-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28832" y="4615283"/>
            <a:ext cx="3051021" cy="43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47"/>
              </a:lnSpc>
            </a:pPr>
            <a:r>
              <a:rPr lang="en-US" sz="3218" b="1" spc="-41">
                <a:solidFill>
                  <a:srgbClr val="000000"/>
                </a:solidFill>
                <a:latin typeface="Hussar Bold"/>
                <a:ea typeface="Hussar Bold"/>
                <a:cs typeface="Hussar Bold"/>
                <a:sym typeface="Hussar Bold"/>
              </a:rPr>
              <a:t>CHECK IT 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83487" y="7210203"/>
            <a:ext cx="1463820" cy="3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23" spc="-143" dirty="0">
                <a:latin typeface="Clear Sans"/>
                <a:ea typeface="Clear Sans"/>
                <a:cs typeface="Clear Sans"/>
                <a:sym typeface="Clear Sans"/>
                <a:hlinkClick r:id="rId5" tooltip="https://dev215416.service-now.com/shipping_app?id=shipping_lan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on 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229" y="6000761"/>
            <a:ext cx="564227" cy="42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36"/>
              </a:lnSpc>
            </a:pPr>
            <a:r>
              <a:rPr lang="en-US" sz="3111" spc="-18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92526" y="7367929"/>
            <a:ext cx="1102948" cy="32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6"/>
              </a:lnSpc>
            </a:pPr>
            <a:r>
              <a:rPr lang="en-US" sz="2420" spc="-142" dirty="0">
                <a:latin typeface="Clear Sans"/>
                <a:ea typeface="Clear Sans"/>
                <a:cs typeface="Clear Sans"/>
                <a:sym typeface="Clear Sans"/>
                <a:hlinkClick r:id="rId5" tooltip="https://dev215416.service-now.com/shipping_app?id=shipping_lan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3064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HOME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13248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ABOUT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95854" y="746125"/>
            <a:ext cx="1582607" cy="27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778461" y="746125"/>
            <a:ext cx="1582607" cy="27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975" b="1" spc="-25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CONTACT</a:t>
            </a:r>
          </a:p>
        </p:txBody>
      </p:sp>
      <p:sp>
        <p:nvSpPr>
          <p:cNvPr id="23" name="Freeform 23">
            <a:hlinkClick r:id="rId5" tooltip="https://dev215416.service-now.com/shipping_app?id=shipping_landing"/>
          </p:cNvPr>
          <p:cNvSpPr/>
          <p:nvPr/>
        </p:nvSpPr>
        <p:spPr>
          <a:xfrm>
            <a:off x="8346113" y="5422427"/>
            <a:ext cx="1782653" cy="1774419"/>
          </a:xfrm>
          <a:custGeom>
            <a:avLst/>
            <a:gdLst/>
            <a:ahLst/>
            <a:cxnLst/>
            <a:rect l="l" t="t" r="r" b="b"/>
            <a:pathLst>
              <a:path w="1782653" h="1774419">
                <a:moveTo>
                  <a:pt x="0" y="0"/>
                </a:moveTo>
                <a:lnTo>
                  <a:pt x="1782653" y="0"/>
                </a:lnTo>
                <a:lnTo>
                  <a:pt x="1782653" y="1774419"/>
                </a:lnTo>
                <a:lnTo>
                  <a:pt x="0" y="17744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350</Words>
  <Application>Microsoft Office PowerPoint</Application>
  <PresentationFormat>Custom</PresentationFormat>
  <Paragraphs>125</Paragraphs>
  <Slides>14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Hussar Bold</vt:lpstr>
      <vt:lpstr>Clear Sans Bold</vt:lpstr>
      <vt:lpstr>Clear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Azm Squade</dc:title>
  <cp:lastModifiedBy>Zeyad Saad Gebril</cp:lastModifiedBy>
  <cp:revision>3</cp:revision>
  <dcterms:created xsi:type="dcterms:W3CDTF">2006-08-16T00:00:00Z</dcterms:created>
  <dcterms:modified xsi:type="dcterms:W3CDTF">2026-01-15T18:49:51Z</dcterms:modified>
  <dc:identifier>DAG-QQ1IFYo</dc:identifier>
</cp:coreProperties>
</file>